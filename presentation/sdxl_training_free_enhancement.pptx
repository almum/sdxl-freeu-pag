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c00e3a7-89fb-59c5-95b3-50ac2c9cc355}">
          <p14:sldIdLst>
            <p14:sldId id="256"/>
          </p14:sldIdLst>
        </p14:section>
        <p14:section name="Background and methods" id="{b7048e14-2066-f16a-4fa3-87a64234e95f}">
          <p14:sldIdLst>
            <p14:sldId id="257"/>
            <p14:sldId id="258"/>
            <p14:sldId id="259"/>
            <p14:sldId id="260"/>
          </p14:sldIdLst>
        </p14:section>
        <p14:section name="Experiments" id="{ec2c5a4e-c65d-66e7-889b-cab0061f2db2}">
          <p14:sldIdLst>
            <p14:sldId id="261"/>
            <p14:sldId id="262"/>
            <p14:sldId id="263"/>
            <p14:sldId id="264"/>
            <p14:sldId id="265"/>
          </p14:sldIdLst>
        </p14:section>
        <p14:section name="Conclusion" id="{6f9b3200-cf6d-4f38-1e8c-a4a7dd4c537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Speaker A] Hi, we compared ways to make a text-to-image model draw better pictures without retraining it. In eight minutes: what the methods do, how we tested them, and what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[0:20–0:50, Speaker A] Even a strong model like SDXL still makes structural mistakes: animals with extra legs, hands holding three bottles. In our blind study, over half of the judgements on plain SDXL flagged a structure error. Retraining is expensive, so we look at methods that only change how the model is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[0:50–1:45, Speaker A] SDXL starts from random noise in a compressed latent space. A U-Net removes the noise over thirty steps, guided by the text, and a decoder turns the result into a picture. Both methods we test plug into that U-Net loop: FreeU changes how the upsampling blocks mix their inputs; PAG adds an extra prediction at the middle block. Neither one changes the model's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[1:45–2:45, Speaker B] FreeU starts from one observation. Inside the U-Net, the main path decides the overall layout, while skip connections bring in fine detail. If the detail wins, structure suffers. FreeU simply amplifies the main path and damps the skip path. It is almost free: about three percent extra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[2:45–4:00, Speaker C] PAG works differently. At every step it asks the model for a second prediction where self-attention is switched off, which produces a version with broken structure. It then steers the image away from that broken version. Think of it as showing the model a bad draft and saying: not like this. The price is one extra pass through the network, so about fifty percent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[4:00–4:50, Speaker A] To keep it fair, every setting used the same SDXL model, the same 150 COCO captions and the same random seed per prompt, so the only difference is the method. We measured text alignment with CLIPScore, how much each method changes the image, speed and memory, and ran a blind study where three of us ranked four shuffled images for sixty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[4:50–5:40, Speaker B] Here is our main finding. On the left, the automatic metric: no method beats plain SDXL, and PAG is third. On the right, human judgement: PAG comes first and is almost never picked as worst. The metric checks whether the objects in the caption are there, not whether they are drawn correctly. The cost column shows the trade-off: PAG takes about one and a half times as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[5:40–6:20, Speaker B] The failure tags explain the ranking. Plain SDXL's main problem is structure, flagged in 54 percent of judgements; PAG halves that. FreeU also helps structure but pushes colours too far, and stacking FreeU with PAG makes it worse: 82 percent flagged as over-saturated, and that combination is picked as worst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[6:20–6:45, Speaker C] Here is what that looks like. Two of the same animal is where SDXL struggles most: bodies merge and legs multiply. PAG keeps them apart; the combination gets the shapes right but the colours look like a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[6:45–7:15, Speaker C] We also reimplemented DUNE, a 2026 method that suppresses unusual activations inside the U-Net. It is the gentlest of all: images stay 98 percent similar to plain SDXL, with no extra time and no change in CLIPScore. Even where it changes most, on the right, the edits are small and not always better: one clock became a row of clocks. We could not confirm its claimed structural gains without a human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[7:15–7:35, Speaker C] Some caveats. Only three of us rated the images and we often disagreed, so the human result is a trend. CLIPScore cannot see structure. We tested short COCO captions with one sampler. And DUNE is our own reimplementation, measured by metrics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[7:35–8:00, Speaker C] Three takeaways. If structure matters, use PAG and budget about one and a half times the time. Do not stack FreeU and PAG at their default strengths. And do not judge these methods by CLIPScore alone. Thank you; the code and data are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12064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788920"/>
            <a:ext cx="5120640" cy="12801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chemeClr val="accent6"/>
                </a:solidFill>
              </a:rPr>
              <a:t>SDXL · FreeU · PAG · DUNE</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120640" cy="1463040"/>
          </a:xfrm>
          <a:prstGeom prst="rect">
            <a:avLst/>
          </a:prstGeom>
          <a:noFill/>
          <a:ln/>
        </p:spPr>
        <p:txBody>
          <a:bodyPr wrap="square" lIns="0" tIns="0" rIns="0" bIns="0" rtlCol="0" anchor="b"/>
          <a:lstStyle/>
          <a:p>
            <a:pPr algn="l" indent="0" marL="0">
              <a:buNone/>
            </a:pPr>
            <a:r>
              <a:rPr lang="en-US" sz="3800" b="1" dirty="0">
                <a:solidFill>
                  <a:schemeClr val="bg1"/>
                </a:solidFill>
              </a:rPr>
              <a:t>Training-free Enhancement of SDXL</a:t>
            </a:r>
            <a:endParaRPr lang="en-US" sz="3800" dirty="0"/>
          </a:p>
        </p:txBody>
      </p:sp>
      <p:sp>
        <p:nvSpPr>
          <p:cNvPr id="3" name="Text 0"/>
          <p:cNvSpPr/>
          <p:nvPr>
            <p:ph idx="101" type="body" hasCustomPrompt="1"/>
          </p:nvPr>
        </p:nvSpPr>
        <p:spPr>
          <a:xfrm>
            <a:off x="548640" y="2788920"/>
            <a:ext cx="5120640" cy="1280160"/>
          </a:xfrm>
          <a:prstGeom prst="rect">
            <a:avLst/>
          </a:prstGeom>
          <a:noFill/>
          <a:ln/>
        </p:spPr>
        <p:txBody>
          <a:bodyPr wrap="square" lIns="0" tIns="0" rIns="0" bIns="0" rtlCol="0" anchor="t"/>
          <a:lstStyle/>
          <a:p>
            <a:pPr indent="0" marL="0">
              <a:buNone/>
            </a:pPr>
            <a:r>
              <a:rPr lang="en-US" sz="1600" dirty="0">
                <a:solidFill>
                  <a:schemeClr val="bg2"/>
                </a:solidFill>
              </a:rPr>
              <a:t>FreeU · PAG · DUNE: what helps, and at what cost</a:t>
            </a:r>
            <a:endParaRPr lang="en-US" sz="1600" dirty="0"/>
          </a:p>
          <a:p>
            <a:pPr indent="0" marL="0">
              <a:buNone/>
            </a:pPr>
            <a:r>
              <a:rPr lang="en-US" sz="800" dirty="0">
                <a:solidFill>
                  <a:schemeClr val="bg2"/>
                </a:solidFill>
              </a:rPr>
              <a:t> </a:t>
            </a:r>
            <a:endParaRPr lang="en-US" sz="1600" dirty="0"/>
          </a:p>
          <a:p>
            <a:pPr indent="0" marL="0">
              <a:buNone/>
            </a:pPr>
            <a:r>
              <a:rPr lang="en-US" sz="1300" dirty="0">
                <a:solidFill>
                  <a:schemeClr val="bg2"/>
                </a:solidFill>
              </a:rPr>
              <a:t>[Name A] · [Name B] · [Name C]</a:t>
            </a:r>
            <a:endParaRPr lang="en-US" sz="1600" dirty="0"/>
          </a:p>
          <a:p>
            <a:pPr indent="0" marL="0">
              <a:buNone/>
            </a:pPr>
            <a:r>
              <a:rPr lang="en-US" sz="1300" dirty="0">
                <a:solidFill>
                  <a:schemeClr val="bg2"/>
                </a:solidFill>
              </a:rPr>
              <a:t>Generative AI Technical Review · November 2026</a:t>
            </a:r>
            <a:endParaRPr lang="en-US" sz="1600" dirty="0"/>
          </a:p>
        </p:txBody>
      </p:sp>
      <p:pic>
        <p:nvPicPr>
          <p:cNvPr id="4" name="hero" descr="Two giraffes generated by SDXL with PAG">    </p:cNvPr>
          <p:cNvPicPr>
            <a:picLocks noChangeAspect="1"/>
          </p:cNvPicPr>
          <p:nvPr/>
        </p:nvPicPr>
        <p:blipFill>
          <a:blip r:embed="rId1"/>
          <a:stretch>
            <a:fillRect/>
          </a:stretch>
        </p:blipFill>
        <p:spPr>
          <a:xfrm>
            <a:off x="5806440" y="822960"/>
            <a:ext cx="2926080" cy="2926080"/>
          </a:xfrm>
          <a:prstGeom prst="rect">
            <a:avLst/>
          </a:prstGeom>
        </p:spPr>
      </p:pic>
      <p:sp>
        <p:nvSpPr>
          <p:cNvPr id="5" name="hero-caption"/>
          <p:cNvSpPr txBox="1"/>
          <p:nvPr/>
        </p:nvSpPr>
        <p:spPr>
          <a:xfrm>
            <a:off x="5806440" y="3822192"/>
            <a:ext cx="2926080" cy="274320"/>
          </a:xfrm>
          <a:prstGeom prst="rect">
            <a:avLst/>
          </a:prstGeom>
          <a:noFill/>
          <a:ln/>
        </p:spPr>
        <p:txBody>
          <a:bodyPr wrap="square" lIns="0" tIns="0" rIns="0" bIns="0" rtlCol="0" anchor="t"/>
          <a:lstStyle/>
          <a:p>
            <a:pPr indent="0" marL="0">
              <a:buNone/>
            </a:pPr>
            <a:r>
              <a:rPr lang="en-US" sz="1000" dirty="0">
                <a:solidFill>
                  <a:schemeClr val="bg2"/>
                </a:solidFill>
              </a:rPr>
              <a:t>SDXL + PAG, prompt p130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SDXL still draws broken structure</a:t>
            </a:r>
            <a:endParaRPr lang="en-US" sz="3000" dirty="0"/>
          </a:p>
        </p:txBody>
      </p:sp>
      <p:pic>
        <p:nvPicPr>
          <p:cNvPr id="3" name="problem-images" descr="Base SDXL outputs with fused giraffes and extra bottles">    </p:cNvPr>
          <p:cNvPicPr>
            <a:picLocks noChangeAspect="1"/>
          </p:cNvPicPr>
          <p:nvPr/>
        </p:nvPicPr>
        <p:blipFill>
          <a:blip r:embed="rId1"/>
          <a:stretch>
            <a:fillRect/>
          </a:stretch>
        </p:blipFill>
        <p:spPr>
          <a:xfrm>
            <a:off x="457200" y="1143000"/>
            <a:ext cx="5577840" cy="2734056"/>
          </a:xfrm>
          <a:prstGeom prst="rect">
            <a:avLst/>
          </a:prstGeom>
        </p:spPr>
      </p:pic>
      <p:sp>
        <p:nvSpPr>
          <p:cNvPr id="4" name="problem-cap-1"/>
          <p:cNvSpPr txBox="1"/>
          <p:nvPr/>
        </p:nvSpPr>
        <p:spPr>
          <a:xfrm>
            <a:off x="457200" y="3950208"/>
            <a:ext cx="2697480" cy="457200"/>
          </a:xfrm>
          <a:prstGeom prst="rect">
            <a:avLst/>
          </a:prstGeom>
          <a:noFill/>
          <a:ln/>
        </p:spPr>
        <p:txBody>
          <a:bodyPr wrap="square" lIns="0" tIns="0" rIns="0" bIns="0" rtlCol="0" anchor="t"/>
          <a:lstStyle/>
          <a:p>
            <a:pPr indent="0" marL="0">
              <a:buNone/>
            </a:pPr>
            <a:r>
              <a:rPr lang="en-US" sz="1100" dirty="0">
                <a:solidFill>
                  <a:schemeClr val="tx2"/>
                </a:solidFill>
              </a:rPr>
              <a:t>Two giraffes with fused bodies and extra legs</a:t>
            </a:r>
            <a:endParaRPr lang="en-US" sz="1100" dirty="0"/>
          </a:p>
        </p:txBody>
      </p:sp>
      <p:sp>
        <p:nvSpPr>
          <p:cNvPr id="5" name="problem-cap-2"/>
          <p:cNvSpPr txBox="1"/>
          <p:nvPr/>
        </p:nvSpPr>
        <p:spPr>
          <a:xfrm>
            <a:off x="3291840" y="3950208"/>
            <a:ext cx="2743200" cy="457200"/>
          </a:xfrm>
          <a:prstGeom prst="rect">
            <a:avLst/>
          </a:prstGeom>
          <a:noFill/>
          <a:ln/>
        </p:spPr>
        <p:txBody>
          <a:bodyPr wrap="square" lIns="0" tIns="0" rIns="0" bIns="0" rtlCol="0" anchor="t"/>
          <a:lstStyle/>
          <a:p>
            <a:pPr indent="0" marL="0">
              <a:buNone/>
            </a:pPr>
            <a:r>
              <a:rPr lang="en-US" sz="1100" dirty="0">
                <a:solidFill>
                  <a:schemeClr val="tx2"/>
                </a:solidFill>
              </a:rPr>
              <a:t>“A man holding a bottle”: three bottles, tangled hands</a:t>
            </a:r>
            <a:endParaRPr lang="en-US" sz="1100" dirty="0"/>
          </a:p>
        </p:txBody>
      </p:sp>
      <p:sp>
        <p:nvSpPr>
          <p:cNvPr id="6" name="structure-stat-value"/>
          <p:cNvSpPr txBox="1"/>
          <p:nvPr/>
        </p:nvSpPr>
        <p:spPr>
          <a:xfrm>
            <a:off x="6400800" y="1234440"/>
            <a:ext cx="2286000" cy="685800"/>
          </a:xfrm>
          <a:prstGeom prst="rect">
            <a:avLst/>
          </a:prstGeom>
          <a:noFill/>
          <a:ln/>
        </p:spPr>
        <p:txBody>
          <a:bodyPr wrap="square" lIns="0" tIns="0" rIns="0" bIns="0"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54%</a:t>
            </a:r>
            <a:endParaRPr lang="en-US" sz="4000" dirty="0"/>
          </a:p>
        </p:txBody>
      </p:sp>
      <p:sp>
        <p:nvSpPr>
          <p:cNvPr id="7" name="structure-stat-label"/>
          <p:cNvSpPr txBox="1"/>
          <p:nvPr/>
        </p:nvSpPr>
        <p:spPr>
          <a:xfrm>
            <a:off x="6400800" y="1920240"/>
            <a:ext cx="2286000" cy="548640"/>
          </a:xfrm>
          <a:prstGeom prst="rect">
            <a:avLst/>
          </a:prstGeom>
          <a:noFill/>
          <a:ln/>
        </p:spPr>
        <p:txBody>
          <a:bodyPr wrap="square" lIns="0" tIns="0" rIns="0" bIns="0" rtlCol="0" anchor="t"/>
          <a:lstStyle/>
          <a:p>
            <a:pPr indent="0" marL="0">
              <a:buNone/>
            </a:pPr>
            <a:r>
              <a:rPr lang="en-US" sz="1300" dirty="0">
                <a:solidFill>
                  <a:schemeClr val="tx2"/>
                </a:solidFill>
              </a:rPr>
              <a:t>of base-SDXL judgements were tagged with a structure or limb error</a:t>
            </a:r>
            <a:endParaRPr lang="en-US" sz="1300" dirty="0"/>
          </a:p>
        </p:txBody>
      </p:sp>
      <p:sp>
        <p:nvSpPr>
          <p:cNvPr id="8" name="problem-question"/>
          <p:cNvSpPr txBox="1"/>
          <p:nvPr/>
        </p:nvSpPr>
        <p:spPr>
          <a:xfrm>
            <a:off x="6400800" y="2743200"/>
            <a:ext cx="2286000" cy="1280160"/>
          </a:xfrm>
          <a:prstGeom prst="rect">
            <a:avLst/>
          </a:prstGeom>
          <a:noFill/>
          <a:ln/>
        </p:spPr>
        <p:txBody>
          <a:bodyPr wrap="square" lIns="0" tIns="0" rIns="0" bIns="0" rtlCol="0" anchor="t"/>
          <a:lstStyle/>
          <a:p>
            <a:pPr indent="0" marL="0">
              <a:buNone/>
            </a:pPr>
            <a:r>
              <a:rPr lang="en-US" sz="1400" dirty="0">
                <a:solidFill>
                  <a:schemeClr val="tx1"/>
                </a:solidFill>
              </a:rPr>
              <a:t>Retraining a 3.5B-parameter model is out of reach. Can we fix this at inference time instead?</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Where the two fixes plug in</a:t>
            </a:r>
            <a:endParaRPr lang="en-US" sz="3000" dirty="0"/>
          </a:p>
        </p:txBody>
      </p:sp>
      <p:sp>
        <p:nvSpPr>
          <p:cNvPr id="3" name="flow-0"/>
          <p:cNvSpPr/>
          <p:nvPr/>
        </p:nvSpPr>
        <p:spPr>
          <a:xfrm>
            <a:off x="457200" y="1188720"/>
            <a:ext cx="1371600" cy="777240"/>
          </a:xfrm>
          <a:prstGeom prst="roundRect">
            <a:avLst>
              <a:gd name="adj" fmla="val 9412"/>
            </a:avLst>
          </a:prstGeom>
          <a:solidFill>
            <a:schemeClr val="bg2"/>
          </a:solidFill>
          <a:ln w="12700">
            <a:solidFill>
              <a:schemeClr val="bg2"/>
            </a:solidFill>
            <a:prstDash val="solid"/>
          </a:ln>
        </p:spPr>
      </p:sp>
      <p:sp>
        <p:nvSpPr>
          <p:cNvPr id="4" name="flow-0-label"/>
          <p:cNvSpPr txBox="1"/>
          <p:nvPr/>
        </p:nvSpPr>
        <p:spPr>
          <a:xfrm>
            <a:off x="530352" y="1188720"/>
            <a:ext cx="1225296" cy="777240"/>
          </a:xfrm>
          <a:prstGeom prst="rect">
            <a:avLst/>
          </a:prstGeom>
          <a:noFill/>
          <a:ln/>
        </p:spPr>
        <p:txBody>
          <a:bodyPr wrap="square" lIns="0" tIns="0" rIns="0" bIns="0" rtlCol="0" anchor="ctr"/>
          <a:lstStyle/>
          <a:p>
            <a:pPr algn="ctr" indent="0" marL="0">
              <a:buNone/>
            </a:pPr>
            <a:r>
              <a:rPr lang="en-US" sz="1300" dirty="0">
                <a:solidFill>
                  <a:schemeClr val="tx1"/>
                </a:solidFill>
              </a:rPr>
              <a:t>Text prompt</a:t>
            </a:r>
            <a:endParaRPr lang="en-US" sz="1300" dirty="0"/>
          </a:p>
        </p:txBody>
      </p:sp>
      <p:sp>
        <p:nvSpPr>
          <p:cNvPr id="5" name="flow-arrow-0"/>
          <p:cNvSpPr/>
          <p:nvPr/>
        </p:nvSpPr>
        <p:spPr>
          <a:xfrm>
            <a:off x="1856232" y="1577340"/>
            <a:ext cx="292608" cy="0"/>
          </a:xfrm>
          <a:prstGeom prst="line">
            <a:avLst/>
          </a:prstGeom>
          <a:noFill/>
          <a:ln w="19050">
            <a:solidFill>
              <a:schemeClr val="accent6"/>
            </a:solidFill>
            <a:prstDash val="solid"/>
            <a:tailEnd type="triangle"/>
          </a:ln>
        </p:spPr>
      </p:sp>
      <p:sp>
        <p:nvSpPr>
          <p:cNvPr id="6" name="flow-1"/>
          <p:cNvSpPr/>
          <p:nvPr/>
        </p:nvSpPr>
        <p:spPr>
          <a:xfrm>
            <a:off x="2171700" y="1188720"/>
            <a:ext cx="1371600" cy="777240"/>
          </a:xfrm>
          <a:prstGeom prst="roundRect">
            <a:avLst>
              <a:gd name="adj" fmla="val 9412"/>
            </a:avLst>
          </a:prstGeom>
          <a:solidFill>
            <a:schemeClr val="bg2"/>
          </a:solidFill>
          <a:ln w="12700">
            <a:solidFill>
              <a:schemeClr val="bg2"/>
            </a:solidFill>
            <a:prstDash val="solid"/>
          </a:ln>
        </p:spPr>
      </p:sp>
      <p:sp>
        <p:nvSpPr>
          <p:cNvPr id="7" name="flow-1-label"/>
          <p:cNvSpPr txBox="1"/>
          <p:nvPr/>
        </p:nvSpPr>
        <p:spPr>
          <a:xfrm>
            <a:off x="2244852" y="1188720"/>
            <a:ext cx="1225296" cy="777240"/>
          </a:xfrm>
          <a:prstGeom prst="rect">
            <a:avLst/>
          </a:prstGeom>
          <a:noFill/>
          <a:ln/>
        </p:spPr>
        <p:txBody>
          <a:bodyPr wrap="square" lIns="0" tIns="0" rIns="0" bIns="0" rtlCol="0" anchor="ctr"/>
          <a:lstStyle/>
          <a:p>
            <a:pPr algn="ctr" indent="0" marL="0">
              <a:buNone/>
            </a:pPr>
            <a:r>
              <a:rPr lang="en-US" sz="1300" dirty="0">
                <a:solidFill>
                  <a:schemeClr val="tx1"/>
                </a:solidFill>
              </a:rPr>
              <a:t>Two text encoders</a:t>
            </a:r>
            <a:endParaRPr lang="en-US" sz="1300" dirty="0"/>
          </a:p>
        </p:txBody>
      </p:sp>
      <p:sp>
        <p:nvSpPr>
          <p:cNvPr id="8" name="flow-arrow-1"/>
          <p:cNvSpPr/>
          <p:nvPr/>
        </p:nvSpPr>
        <p:spPr>
          <a:xfrm>
            <a:off x="3570732" y="1577340"/>
            <a:ext cx="292608" cy="0"/>
          </a:xfrm>
          <a:prstGeom prst="line">
            <a:avLst/>
          </a:prstGeom>
          <a:noFill/>
          <a:ln w="19050">
            <a:solidFill>
              <a:schemeClr val="accent6"/>
            </a:solidFill>
            <a:prstDash val="solid"/>
            <a:tailEnd type="triangle"/>
          </a:ln>
        </p:spPr>
      </p:sp>
      <p:sp>
        <p:nvSpPr>
          <p:cNvPr id="9" name="flow-2"/>
          <p:cNvSpPr/>
          <p:nvPr/>
        </p:nvSpPr>
        <p:spPr>
          <a:xfrm>
            <a:off x="3886200" y="1188720"/>
            <a:ext cx="1371600" cy="777240"/>
          </a:xfrm>
          <a:prstGeom prst="roundRect">
            <a:avLst>
              <a:gd name="adj" fmla="val 9412"/>
            </a:avLst>
          </a:prstGeom>
          <a:solidFill>
            <a:schemeClr val="tx1"/>
          </a:solidFill>
          <a:ln w="12700">
            <a:solidFill>
              <a:schemeClr val="tx1"/>
            </a:solidFill>
            <a:prstDash val="solid"/>
          </a:ln>
        </p:spPr>
      </p:sp>
      <p:sp>
        <p:nvSpPr>
          <p:cNvPr id="10" name="flow-2-label"/>
          <p:cNvSpPr txBox="1"/>
          <p:nvPr/>
        </p:nvSpPr>
        <p:spPr>
          <a:xfrm>
            <a:off x="3959352" y="1188720"/>
            <a:ext cx="1225296" cy="777240"/>
          </a:xfrm>
          <a:prstGeom prst="rect">
            <a:avLst/>
          </a:prstGeom>
          <a:noFill/>
          <a:ln/>
        </p:spPr>
        <p:txBody>
          <a:bodyPr wrap="square" lIns="0" tIns="0" rIns="0" bIns="0" rtlCol="0" anchor="ctr"/>
          <a:lstStyle/>
          <a:p>
            <a:pPr algn="ctr" indent="0" marL="0">
              <a:buNone/>
            </a:pPr>
            <a:r>
              <a:rPr lang="en-US" sz="1300" b="1" dirty="0">
                <a:solidFill>
                  <a:schemeClr val="bg1"/>
                </a:solidFill>
              </a:rPr>
              <a:t>U-Net denoising ×30 steps</a:t>
            </a:r>
            <a:endParaRPr lang="en-US" sz="1300" dirty="0"/>
          </a:p>
        </p:txBody>
      </p:sp>
      <p:sp>
        <p:nvSpPr>
          <p:cNvPr id="11" name="flow-arrow-2"/>
          <p:cNvSpPr/>
          <p:nvPr/>
        </p:nvSpPr>
        <p:spPr>
          <a:xfrm>
            <a:off x="5285232" y="1577340"/>
            <a:ext cx="292608" cy="0"/>
          </a:xfrm>
          <a:prstGeom prst="line">
            <a:avLst/>
          </a:prstGeom>
          <a:noFill/>
          <a:ln w="19050">
            <a:solidFill>
              <a:schemeClr val="accent6"/>
            </a:solidFill>
            <a:prstDash val="solid"/>
            <a:tailEnd type="triangle"/>
          </a:ln>
        </p:spPr>
      </p:sp>
      <p:sp>
        <p:nvSpPr>
          <p:cNvPr id="12" name="flow-3"/>
          <p:cNvSpPr/>
          <p:nvPr/>
        </p:nvSpPr>
        <p:spPr>
          <a:xfrm>
            <a:off x="5600700" y="1188720"/>
            <a:ext cx="1371600" cy="777240"/>
          </a:xfrm>
          <a:prstGeom prst="roundRect">
            <a:avLst>
              <a:gd name="adj" fmla="val 9412"/>
            </a:avLst>
          </a:prstGeom>
          <a:solidFill>
            <a:schemeClr val="bg2"/>
          </a:solidFill>
          <a:ln w="12700">
            <a:solidFill>
              <a:schemeClr val="bg2"/>
            </a:solidFill>
            <a:prstDash val="solid"/>
          </a:ln>
        </p:spPr>
      </p:sp>
      <p:sp>
        <p:nvSpPr>
          <p:cNvPr id="13" name="flow-3-label"/>
          <p:cNvSpPr txBox="1"/>
          <p:nvPr/>
        </p:nvSpPr>
        <p:spPr>
          <a:xfrm>
            <a:off x="5673852" y="1188720"/>
            <a:ext cx="1225296" cy="777240"/>
          </a:xfrm>
          <a:prstGeom prst="rect">
            <a:avLst/>
          </a:prstGeom>
          <a:noFill/>
          <a:ln/>
        </p:spPr>
        <p:txBody>
          <a:bodyPr wrap="square" lIns="0" tIns="0" rIns="0" bIns="0" rtlCol="0" anchor="ctr"/>
          <a:lstStyle/>
          <a:p>
            <a:pPr algn="ctr" indent="0" marL="0">
              <a:buNone/>
            </a:pPr>
            <a:r>
              <a:rPr lang="en-US" sz="1300" dirty="0">
                <a:solidFill>
                  <a:schemeClr val="tx1"/>
                </a:solidFill>
              </a:rPr>
              <a:t>VAE decoder</a:t>
            </a:r>
            <a:endParaRPr lang="en-US" sz="1300" dirty="0"/>
          </a:p>
        </p:txBody>
      </p:sp>
      <p:sp>
        <p:nvSpPr>
          <p:cNvPr id="14" name="flow-arrow-3"/>
          <p:cNvSpPr/>
          <p:nvPr/>
        </p:nvSpPr>
        <p:spPr>
          <a:xfrm>
            <a:off x="6999732" y="1577340"/>
            <a:ext cx="292608" cy="0"/>
          </a:xfrm>
          <a:prstGeom prst="line">
            <a:avLst/>
          </a:prstGeom>
          <a:noFill/>
          <a:ln w="19050">
            <a:solidFill>
              <a:schemeClr val="accent6"/>
            </a:solidFill>
            <a:prstDash val="solid"/>
            <a:tailEnd type="triangle"/>
          </a:ln>
        </p:spPr>
      </p:sp>
      <p:sp>
        <p:nvSpPr>
          <p:cNvPr id="15" name="flow-4"/>
          <p:cNvSpPr/>
          <p:nvPr/>
        </p:nvSpPr>
        <p:spPr>
          <a:xfrm>
            <a:off x="7315200" y="1188720"/>
            <a:ext cx="1371600" cy="777240"/>
          </a:xfrm>
          <a:prstGeom prst="roundRect">
            <a:avLst>
              <a:gd name="adj" fmla="val 9412"/>
            </a:avLst>
          </a:prstGeom>
          <a:solidFill>
            <a:schemeClr val="bg2"/>
          </a:solidFill>
          <a:ln w="12700">
            <a:solidFill>
              <a:schemeClr val="bg2"/>
            </a:solidFill>
            <a:prstDash val="solid"/>
          </a:ln>
        </p:spPr>
      </p:sp>
      <p:sp>
        <p:nvSpPr>
          <p:cNvPr id="16" name="flow-4-label"/>
          <p:cNvSpPr txBox="1"/>
          <p:nvPr/>
        </p:nvSpPr>
        <p:spPr>
          <a:xfrm>
            <a:off x="7388352" y="1188720"/>
            <a:ext cx="1225296" cy="777240"/>
          </a:xfrm>
          <a:prstGeom prst="rect">
            <a:avLst/>
          </a:prstGeom>
          <a:noFill/>
          <a:ln/>
        </p:spPr>
        <p:txBody>
          <a:bodyPr wrap="square" lIns="0" tIns="0" rIns="0" bIns="0" rtlCol="0" anchor="ctr"/>
          <a:lstStyle/>
          <a:p>
            <a:pPr algn="ctr" indent="0" marL="0">
              <a:buNone/>
            </a:pPr>
            <a:r>
              <a:rPr lang="en-US" sz="1300" dirty="0">
                <a:solidFill>
                  <a:schemeClr val="tx1"/>
                </a:solidFill>
              </a:rPr>
              <a:t>1024×1024 image</a:t>
            </a:r>
            <a:endParaRPr lang="en-US" sz="1300" dirty="0"/>
          </a:p>
        </p:txBody>
      </p:sp>
      <p:sp>
        <p:nvSpPr>
          <p:cNvPr id="17" name="unet-zoom"/>
          <p:cNvSpPr/>
          <p:nvPr/>
        </p:nvSpPr>
        <p:spPr>
          <a:xfrm>
            <a:off x="1737360" y="2286000"/>
            <a:ext cx="5669280" cy="2194560"/>
          </a:xfrm>
          <a:prstGeom prst="roundRect">
            <a:avLst>
              <a:gd name="adj" fmla="val 3333"/>
            </a:avLst>
          </a:prstGeom>
          <a:solidFill>
            <a:schemeClr val="bg2"/>
          </a:solidFill>
          <a:ln w="12700">
            <a:solidFill>
              <a:schemeClr val="bg2"/>
            </a:solidFill>
            <a:prstDash val="solid"/>
          </a:ln>
        </p:spPr>
      </p:sp>
      <p:sp>
        <p:nvSpPr>
          <p:cNvPr id="18" name="unet-zoom-title"/>
          <p:cNvSpPr txBox="1"/>
          <p:nvPr/>
        </p:nvSpPr>
        <p:spPr>
          <a:xfrm>
            <a:off x="1920240" y="2377440"/>
            <a:ext cx="3657600" cy="274320"/>
          </a:xfrm>
          <a:prstGeom prst="rect">
            <a:avLst/>
          </a:prstGeom>
          <a:noFill/>
          <a:ln/>
        </p:spPr>
        <p:txBody>
          <a:bodyPr wrap="square" lIns="0" tIns="0" rIns="0" bIns="0" rtlCol="0" anchor="t"/>
          <a:lstStyle/>
          <a:p>
            <a:pPr indent="0" marL="0">
              <a:buNone/>
            </a:pPr>
            <a:r>
              <a:rPr lang="en-US" sz="1200" b="1" dirty="0">
                <a:solidFill>
                  <a:schemeClr val="tx2"/>
                </a:solidFill>
              </a:rPr>
              <a:t>Inside the U-Net, at every step</a:t>
            </a:r>
            <a:endParaRPr lang="en-US" sz="1200" dirty="0"/>
          </a:p>
        </p:txBody>
      </p:sp>
      <p:sp>
        <p:nvSpPr>
          <p:cNvPr id="19" name="unet-0"/>
          <p:cNvSpPr/>
          <p:nvPr/>
        </p:nvSpPr>
        <p:spPr>
          <a:xfrm>
            <a:off x="2148840" y="3063240"/>
            <a:ext cx="1280160" cy="548640"/>
          </a:xfrm>
          <a:prstGeom prst="roundRect">
            <a:avLst>
              <a:gd name="adj" fmla="val 10000"/>
            </a:avLst>
          </a:prstGeom>
          <a:solidFill>
            <a:schemeClr val="bg1"/>
          </a:solidFill>
          <a:ln w="12700">
            <a:solidFill>
              <a:schemeClr val="accent6"/>
            </a:solidFill>
            <a:prstDash val="solid"/>
          </a:ln>
        </p:spPr>
      </p:sp>
      <p:sp>
        <p:nvSpPr>
          <p:cNvPr id="20" name="unet-0-label"/>
          <p:cNvSpPr txBox="1"/>
          <p:nvPr/>
        </p:nvSpPr>
        <p:spPr>
          <a:xfrm>
            <a:off x="2148840" y="3063240"/>
            <a:ext cx="1280160" cy="548640"/>
          </a:xfrm>
          <a:prstGeom prst="rect">
            <a:avLst/>
          </a:prstGeom>
          <a:noFill/>
          <a:ln/>
        </p:spPr>
        <p:txBody>
          <a:bodyPr wrap="square" lIns="0" tIns="0" rIns="0" bIns="0" rtlCol="0" anchor="ctr"/>
          <a:lstStyle/>
          <a:p>
            <a:pPr algn="ctr" indent="0" marL="0">
              <a:buNone/>
            </a:pPr>
            <a:r>
              <a:rPr lang="en-US" sz="1300" dirty="0">
                <a:solidFill>
                  <a:schemeClr val="tx1"/>
                </a:solidFill>
              </a:rPr>
              <a:t>Down blocks</a:t>
            </a:r>
            <a:endParaRPr lang="en-US" sz="1300" dirty="0"/>
          </a:p>
        </p:txBody>
      </p:sp>
      <p:sp>
        <p:nvSpPr>
          <p:cNvPr id="21" name="unet-1"/>
          <p:cNvSpPr/>
          <p:nvPr/>
        </p:nvSpPr>
        <p:spPr>
          <a:xfrm>
            <a:off x="3931920" y="3063240"/>
            <a:ext cx="1280160" cy="548640"/>
          </a:xfrm>
          <a:prstGeom prst="roundRect">
            <a:avLst>
              <a:gd name="adj" fmla="val 10000"/>
            </a:avLst>
          </a:prstGeom>
          <a:solidFill>
            <a:schemeClr val="bg1"/>
          </a:solidFill>
          <a:ln w="28575">
            <a:solidFill>
              <a:schemeClr val="accent1"/>
            </a:solidFill>
            <a:prstDash val="solid"/>
          </a:ln>
        </p:spPr>
      </p:sp>
      <p:sp>
        <p:nvSpPr>
          <p:cNvPr id="22" name="unet-1-label"/>
          <p:cNvSpPr txBox="1"/>
          <p:nvPr/>
        </p:nvSpPr>
        <p:spPr>
          <a:xfrm>
            <a:off x="3931920" y="3063240"/>
            <a:ext cx="1280160" cy="548640"/>
          </a:xfrm>
          <a:prstGeom prst="rect">
            <a:avLst/>
          </a:prstGeom>
          <a:noFill/>
          <a:ln/>
        </p:spPr>
        <p:txBody>
          <a:bodyPr wrap="square" lIns="0" tIns="0" rIns="0" bIns="0" rtlCol="0" anchor="ctr"/>
          <a:lstStyle/>
          <a:p>
            <a:pPr algn="ctr" indent="0" marL="0">
              <a:buNone/>
            </a:pPr>
            <a:r>
              <a:rPr lang="en-US" sz="1300" dirty="0">
                <a:solidFill>
                  <a:schemeClr val="tx1"/>
                </a:solidFill>
              </a:rPr>
              <a:t>Mid block</a:t>
            </a:r>
            <a:endParaRPr lang="en-US" sz="1300" dirty="0"/>
          </a:p>
        </p:txBody>
      </p:sp>
      <p:sp>
        <p:nvSpPr>
          <p:cNvPr id="23" name="unet-2"/>
          <p:cNvSpPr/>
          <p:nvPr/>
        </p:nvSpPr>
        <p:spPr>
          <a:xfrm>
            <a:off x="5715000" y="3063240"/>
            <a:ext cx="1280160" cy="548640"/>
          </a:xfrm>
          <a:prstGeom prst="roundRect">
            <a:avLst>
              <a:gd name="adj" fmla="val 10000"/>
            </a:avLst>
          </a:prstGeom>
          <a:solidFill>
            <a:schemeClr val="bg1"/>
          </a:solidFill>
          <a:ln w="28575">
            <a:solidFill>
              <a:schemeClr val="accent2"/>
            </a:solidFill>
            <a:prstDash val="solid"/>
          </a:ln>
        </p:spPr>
      </p:sp>
      <p:sp>
        <p:nvSpPr>
          <p:cNvPr id="24" name="unet-2-label"/>
          <p:cNvSpPr txBox="1"/>
          <p:nvPr/>
        </p:nvSpPr>
        <p:spPr>
          <a:xfrm>
            <a:off x="5715000" y="3063240"/>
            <a:ext cx="1280160" cy="548640"/>
          </a:xfrm>
          <a:prstGeom prst="rect">
            <a:avLst/>
          </a:prstGeom>
          <a:noFill/>
          <a:ln/>
        </p:spPr>
        <p:txBody>
          <a:bodyPr wrap="square" lIns="0" tIns="0" rIns="0" bIns="0" rtlCol="0" anchor="ctr"/>
          <a:lstStyle/>
          <a:p>
            <a:pPr algn="ctr" indent="0" marL="0">
              <a:buNone/>
            </a:pPr>
            <a:r>
              <a:rPr lang="en-US" sz="1300" dirty="0">
                <a:solidFill>
                  <a:schemeClr val="tx1"/>
                </a:solidFill>
              </a:rPr>
              <a:t>Up blocks</a:t>
            </a:r>
            <a:endParaRPr lang="en-US" sz="1300" dirty="0"/>
          </a:p>
        </p:txBody>
      </p:sp>
      <p:sp>
        <p:nvSpPr>
          <p:cNvPr id="25" name="unet-arrow-1"/>
          <p:cNvSpPr/>
          <p:nvPr/>
        </p:nvSpPr>
        <p:spPr>
          <a:xfrm>
            <a:off x="3456432" y="3337560"/>
            <a:ext cx="438912" cy="0"/>
          </a:xfrm>
          <a:prstGeom prst="line">
            <a:avLst/>
          </a:prstGeom>
          <a:noFill/>
          <a:ln w="19050">
            <a:solidFill>
              <a:schemeClr val="accent6"/>
            </a:solidFill>
            <a:prstDash val="solid"/>
            <a:tailEnd type="triangle"/>
          </a:ln>
        </p:spPr>
      </p:sp>
      <p:sp>
        <p:nvSpPr>
          <p:cNvPr id="26" name="unet-arrow-2"/>
          <p:cNvSpPr/>
          <p:nvPr/>
        </p:nvSpPr>
        <p:spPr>
          <a:xfrm>
            <a:off x="5239512" y="3337560"/>
            <a:ext cx="438912" cy="0"/>
          </a:xfrm>
          <a:prstGeom prst="line">
            <a:avLst/>
          </a:prstGeom>
          <a:noFill/>
          <a:ln w="19050">
            <a:solidFill>
              <a:schemeClr val="accent6"/>
            </a:solidFill>
            <a:prstDash val="solid"/>
            <a:tailEnd type="triangle"/>
          </a:ln>
        </p:spPr>
      </p:sp>
      <p:sp>
        <p:nvSpPr>
          <p:cNvPr id="27" name="skip"/>
          <p:cNvSpPr/>
          <p:nvPr/>
        </p:nvSpPr>
        <p:spPr>
          <a:xfrm>
            <a:off x="2788920" y="2852928"/>
            <a:ext cx="3566160" cy="0"/>
          </a:xfrm>
          <a:prstGeom prst="line">
            <a:avLst/>
          </a:prstGeom>
          <a:noFill/>
          <a:ln w="19050">
            <a:solidFill>
              <a:schemeClr val="accent2"/>
            </a:solidFill>
            <a:prstDash val="dash"/>
            <a:tailEnd type="triangle"/>
          </a:ln>
        </p:spPr>
      </p:sp>
      <p:sp>
        <p:nvSpPr>
          <p:cNvPr id="28" name="skip-label"/>
          <p:cNvSpPr txBox="1"/>
          <p:nvPr/>
        </p:nvSpPr>
        <p:spPr>
          <a:xfrm>
            <a:off x="3931920" y="2615184"/>
            <a:ext cx="1280160" cy="219456"/>
          </a:xfrm>
          <a:prstGeom prst="rect">
            <a:avLst/>
          </a:prstGeom>
          <a:noFill/>
          <a:ln/>
        </p:spPr>
        <p:txBody>
          <a:bodyPr wrap="square" lIns="0" tIns="0" rIns="0" bIns="0" rtlCol="0" anchor="t"/>
          <a:lstStyle/>
          <a:p>
            <a:pPr algn="ctr" indent="0" marL="0">
              <a:buNone/>
            </a:pPr>
            <a:r>
              <a:rPr lang="en-US" sz="1000" dirty="0">
                <a:solidFill>
                  <a:schemeClr val="tx2"/>
                </a:solidFill>
              </a:rPr>
              <a:t>skip connections</a:t>
            </a:r>
            <a:endParaRPr lang="en-US" sz="1000" dirty="0"/>
          </a:p>
        </p:txBody>
      </p:sp>
      <p:sp>
        <p:nvSpPr>
          <p:cNvPr id="29" name="pag-here-pill"/>
          <p:cNvSpPr/>
          <p:nvPr/>
        </p:nvSpPr>
        <p:spPr>
          <a:xfrm>
            <a:off x="3931920" y="3767328"/>
            <a:ext cx="1280160" cy="310896"/>
          </a:xfrm>
          <a:prstGeom prst="roundRect">
            <a:avLst>
              <a:gd name="adj" fmla="val 50000"/>
            </a:avLst>
          </a:prstGeom>
          <a:solidFill>
            <a:schemeClr val="accent1"/>
          </a:solidFill>
          <a:ln w="12700">
            <a:solidFill>
              <a:schemeClr val="accent1"/>
            </a:solidFill>
            <a:prstDash val="solid"/>
          </a:ln>
        </p:spPr>
      </p:sp>
      <p:sp>
        <p:nvSpPr>
          <p:cNvPr id="30" name="pag-here-text"/>
          <p:cNvSpPr txBox="1"/>
          <p:nvPr/>
        </p:nvSpPr>
        <p:spPr>
          <a:xfrm>
            <a:off x="3931920" y="3767328"/>
            <a:ext cx="1280160" cy="310896"/>
          </a:xfrm>
          <a:prstGeom prst="rect">
            <a:avLst/>
          </a:prstGeom>
          <a:noFill/>
          <a:ln/>
        </p:spPr>
        <p:txBody>
          <a:bodyPr wrap="square" lIns="0" tIns="0" rIns="0" bIns="0" rtlCol="0" anchor="ctr"/>
          <a:lstStyle/>
          <a:p>
            <a:pPr algn="ctr" indent="0" marL="0">
              <a:buNone/>
            </a:pPr>
            <a:r>
              <a:rPr lang="en-US" sz="1200" b="1" dirty="0">
                <a:solidFill>
                  <a:schemeClr val="bg1"/>
                </a:solidFill>
              </a:rPr>
              <a:t>PAG acts here</a:t>
            </a:r>
            <a:endParaRPr lang="en-US" sz="1200" dirty="0"/>
          </a:p>
        </p:txBody>
      </p:sp>
      <p:sp>
        <p:nvSpPr>
          <p:cNvPr id="31" name="freeu-here-pill"/>
          <p:cNvSpPr/>
          <p:nvPr/>
        </p:nvSpPr>
        <p:spPr>
          <a:xfrm>
            <a:off x="5715000" y="3767328"/>
            <a:ext cx="1280160" cy="310896"/>
          </a:xfrm>
          <a:prstGeom prst="roundRect">
            <a:avLst>
              <a:gd name="adj" fmla="val 50000"/>
            </a:avLst>
          </a:prstGeom>
          <a:solidFill>
            <a:schemeClr val="accent2"/>
          </a:solidFill>
          <a:ln w="12700">
            <a:solidFill>
              <a:schemeClr val="accent2"/>
            </a:solidFill>
            <a:prstDash val="solid"/>
          </a:ln>
        </p:spPr>
      </p:sp>
      <p:sp>
        <p:nvSpPr>
          <p:cNvPr id="32" name="freeu-here-text"/>
          <p:cNvSpPr txBox="1"/>
          <p:nvPr/>
        </p:nvSpPr>
        <p:spPr>
          <a:xfrm>
            <a:off x="5715000" y="3767328"/>
            <a:ext cx="1280160" cy="310896"/>
          </a:xfrm>
          <a:prstGeom prst="rect">
            <a:avLst/>
          </a:prstGeom>
          <a:noFill/>
          <a:ln/>
        </p:spPr>
        <p:txBody>
          <a:bodyPr wrap="square" lIns="0" tIns="0" rIns="0" bIns="0" rtlCol="0" anchor="ctr"/>
          <a:lstStyle/>
          <a:p>
            <a:pPr algn="ctr" indent="0" marL="0">
              <a:buNone/>
            </a:pPr>
            <a:r>
              <a:rPr lang="en-US" sz="1200" b="1" dirty="0">
                <a:solidFill>
                  <a:schemeClr val="bg1"/>
                </a:solidFill>
              </a:rPr>
              <a:t>FreeU acts here</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FreeU: rebalance structure and detail</a:t>
            </a:r>
            <a:endParaRPr lang="en-US" sz="3000" dirty="0"/>
          </a:p>
        </p:txBody>
      </p:sp>
      <p:sp>
        <p:nvSpPr>
          <p:cNvPr id="3" name="freeu-text"/>
          <p:cNvSpPr txBox="1"/>
          <p:nvPr/>
        </p:nvSpPr>
        <p:spPr>
          <a:xfrm>
            <a:off x="457200" y="1188720"/>
            <a:ext cx="4023360" cy="237744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The U-Net decoder mixes two signals:</a:t>
            </a:r>
            <a:endParaRPr lang="en-US" sz="1500" dirty="0"/>
          </a:p>
          <a:p>
            <a:pPr marL="342900" indent="-342900">
              <a:spcAft>
                <a:spcPts val="800"/>
              </a:spcAft>
              <a:buSzPct val="100000"/>
              <a:buChar char="•"/>
            </a:pPr>
            <a:r>
              <a:rPr lang="en-US" sz="1500" dirty="0">
                <a:solidFill>
                  <a:schemeClr val="tx1"/>
                </a:solidFill>
              </a:rPr>
              <a:t>Backbone features carry layout and meaning</a:t>
            </a:r>
            <a:endParaRPr lang="en-US" sz="1500" dirty="0"/>
          </a:p>
          <a:p>
            <a:pPr marL="342900" indent="-342900">
              <a:spcAft>
                <a:spcPts val="800"/>
              </a:spcAft>
              <a:buSzPct val="100000"/>
              <a:buChar char="•"/>
            </a:pPr>
            <a:r>
              <a:rPr lang="en-US" sz="1500" dirty="0">
                <a:solidFill>
                  <a:schemeClr val="tx1"/>
                </a:solidFill>
              </a:rPr>
              <a:t>Skip connections carry fine, high-frequency detail</a:t>
            </a:r>
            <a:endParaRPr lang="en-US" sz="1500" dirty="0"/>
          </a:p>
          <a:p>
            <a:pPr indent="0" marL="0">
              <a:spcAft>
                <a:spcPts val="800"/>
              </a:spcAft>
              <a:buNone/>
            </a:pPr>
            <a:r>
              <a:rPr lang="en-US" sz="1500" dirty="0">
                <a:solidFill>
                  <a:schemeClr val="tx1"/>
                </a:solidFill>
              </a:rPr>
              <a:t>When detail dominates, structure can fall apart. FreeU turns the backbone up and the skip detail down.</a:t>
            </a:r>
            <a:endParaRPr lang="en-US" sz="1500" dirty="0"/>
          </a:p>
        </p:txBody>
      </p:sp>
      <p:sp>
        <p:nvSpPr>
          <p:cNvPr id="4" name="freeu-knobs"/>
          <p:cNvSpPr/>
          <p:nvPr/>
        </p:nvSpPr>
        <p:spPr>
          <a:xfrm>
            <a:off x="4846320" y="1188720"/>
            <a:ext cx="3840480" cy="2377440"/>
          </a:xfrm>
          <a:prstGeom prst="roundRect">
            <a:avLst>
              <a:gd name="adj" fmla="val 3077"/>
            </a:avLst>
          </a:prstGeom>
          <a:solidFill>
            <a:schemeClr val="bg2"/>
          </a:solidFill>
          <a:ln w="12700">
            <a:solidFill>
              <a:schemeClr val="bg2"/>
            </a:solidFill>
            <a:prstDash val="solid"/>
          </a:ln>
        </p:spPr>
      </p:sp>
      <p:sp>
        <p:nvSpPr>
          <p:cNvPr id="5" name="freeu-knobs-title"/>
          <p:cNvSpPr txBox="1"/>
          <p:nvPr/>
        </p:nvSpPr>
        <p:spPr>
          <a:xfrm>
            <a:off x="5074920" y="1325880"/>
            <a:ext cx="3383280" cy="274320"/>
          </a:xfrm>
          <a:prstGeom prst="rect">
            <a:avLst/>
          </a:prstGeom>
          <a:noFill/>
          <a:ln/>
        </p:spPr>
        <p:txBody>
          <a:bodyPr wrap="square" lIns="0" tIns="0" rIns="0" bIns="0" rtlCol="0" anchor="t"/>
          <a:lstStyle/>
          <a:p>
            <a:pPr indent="0" marL="0">
              <a:buNone/>
            </a:pPr>
            <a:r>
              <a:rPr lang="en-US" sz="1200" b="1" dirty="0">
                <a:solidFill>
                  <a:schemeClr val="tx2"/>
                </a:solidFill>
              </a:rPr>
              <a:t>SDXL settings we used</a:t>
            </a:r>
            <a:endParaRPr lang="en-US" sz="1200" dirty="0"/>
          </a:p>
        </p:txBody>
      </p:sp>
      <p:sp>
        <p:nvSpPr>
          <p:cNvPr id="6" name="freeu-bar-0"/>
          <p:cNvSpPr/>
          <p:nvPr/>
        </p:nvSpPr>
        <p:spPr>
          <a:xfrm>
            <a:off x="5074920" y="2075688"/>
            <a:ext cx="2926080" cy="256032"/>
          </a:xfrm>
          <a:prstGeom prst="rect">
            <a:avLst/>
          </a:prstGeom>
          <a:solidFill>
            <a:schemeClr val="accent2"/>
          </a:solidFill>
          <a:ln w="12700">
            <a:solidFill>
              <a:schemeClr val="accent2"/>
            </a:solidFill>
            <a:prstDash val="solid"/>
          </a:ln>
        </p:spPr>
      </p:sp>
      <p:sp>
        <p:nvSpPr>
          <p:cNvPr id="7" name="freeu-bar-0-label"/>
          <p:cNvSpPr txBox="1"/>
          <p:nvPr/>
        </p:nvSpPr>
        <p:spPr>
          <a:xfrm>
            <a:off x="5074920" y="1783080"/>
            <a:ext cx="3383280" cy="274320"/>
          </a:xfrm>
          <a:prstGeom prst="rect">
            <a:avLst/>
          </a:prstGeom>
          <a:noFill/>
          <a:ln/>
        </p:spPr>
        <p:txBody>
          <a:bodyPr wrap="square" lIns="0" tIns="0" rIns="0" bIns="0" rtlCol="0" anchor="t"/>
          <a:lstStyle/>
          <a:p>
            <a:pPr indent="0" marL="0">
              <a:buNone/>
            </a:pPr>
            <a:r>
              <a:rPr lang="en-US" sz="1300" dirty="0">
                <a:solidFill>
                  <a:schemeClr val="tx1"/>
                </a:solidFill>
              </a:rPr>
              <a:t>Backbone  ×1.3 / ×1.4</a:t>
            </a:r>
            <a:endParaRPr lang="en-US" sz="1300" dirty="0"/>
          </a:p>
        </p:txBody>
      </p:sp>
      <p:sp>
        <p:nvSpPr>
          <p:cNvPr id="8" name="freeu-bar-1"/>
          <p:cNvSpPr/>
          <p:nvPr/>
        </p:nvSpPr>
        <p:spPr>
          <a:xfrm>
            <a:off x="5074920" y="2852928"/>
            <a:ext cx="1143000" cy="256032"/>
          </a:xfrm>
          <a:prstGeom prst="rect">
            <a:avLst/>
          </a:prstGeom>
          <a:solidFill>
            <a:schemeClr val="accent6"/>
          </a:solidFill>
          <a:ln w="12700">
            <a:solidFill>
              <a:schemeClr val="accent6"/>
            </a:solidFill>
            <a:prstDash val="solid"/>
          </a:ln>
        </p:spPr>
      </p:sp>
      <p:sp>
        <p:nvSpPr>
          <p:cNvPr id="9" name="freeu-bar-1-label"/>
          <p:cNvSpPr txBox="1"/>
          <p:nvPr/>
        </p:nvSpPr>
        <p:spPr>
          <a:xfrm>
            <a:off x="5074920" y="2560320"/>
            <a:ext cx="3383280" cy="274320"/>
          </a:xfrm>
          <a:prstGeom prst="rect">
            <a:avLst/>
          </a:prstGeom>
          <a:noFill/>
          <a:ln/>
        </p:spPr>
        <p:txBody>
          <a:bodyPr wrap="square" lIns="0" tIns="0" rIns="0" bIns="0" rtlCol="0" anchor="t"/>
          <a:lstStyle/>
          <a:p>
            <a:pPr indent="0" marL="0">
              <a:buNone/>
            </a:pPr>
            <a:r>
              <a:rPr lang="en-US" sz="1300" dirty="0">
                <a:solidFill>
                  <a:schemeClr val="tx1"/>
                </a:solidFill>
              </a:rPr>
              <a:t>Skip detail  ×0.9 / ×0.2</a:t>
            </a:r>
            <a:endParaRPr lang="en-US" sz="1300" dirty="0"/>
          </a:p>
        </p:txBody>
      </p:sp>
      <p:sp>
        <p:nvSpPr>
          <p:cNvPr id="10" name="freeu-cost-value"/>
          <p:cNvSpPr txBox="1"/>
          <p:nvPr/>
        </p:nvSpPr>
        <p:spPr>
          <a:xfrm>
            <a:off x="457200" y="3611880"/>
            <a:ext cx="365760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+3%</a:t>
            </a:r>
            <a:endParaRPr lang="en-US" sz="4000" dirty="0"/>
          </a:p>
        </p:txBody>
      </p:sp>
      <p:sp>
        <p:nvSpPr>
          <p:cNvPr id="11" name="freeu-cost-label"/>
          <p:cNvSpPr txBox="1"/>
          <p:nvPr/>
        </p:nvSpPr>
        <p:spPr>
          <a:xfrm>
            <a:off x="457200" y="4297680"/>
            <a:ext cx="3657600" cy="548640"/>
          </a:xfrm>
          <a:prstGeom prst="rect">
            <a:avLst/>
          </a:prstGeom>
          <a:noFill/>
          <a:ln/>
        </p:spPr>
        <p:txBody>
          <a:bodyPr wrap="square" lIns="0" tIns="0" rIns="0" bIns="0" rtlCol="0" anchor="t"/>
          <a:lstStyle/>
          <a:p>
            <a:pPr indent="0" marL="0">
              <a:buNone/>
            </a:pPr>
            <a:r>
              <a:rPr lang="en-US" sz="1300" dirty="0">
                <a:solidFill>
                  <a:schemeClr val="tx2"/>
                </a:solidFill>
              </a:rPr>
              <a:t>inference time: four multiplications per block</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PAG: learn from a broken prediction</a:t>
            </a:r>
            <a:endParaRPr lang="en-US" sz="3000" dirty="0"/>
          </a:p>
        </p:txBody>
      </p:sp>
      <p:sp>
        <p:nvSpPr>
          <p:cNvPr id="3" name="pag-step-1"/>
          <p:cNvSpPr/>
          <p:nvPr/>
        </p:nvSpPr>
        <p:spPr>
          <a:xfrm>
            <a:off x="457200" y="1188720"/>
            <a:ext cx="2560320" cy="2148840"/>
          </a:xfrm>
          <a:prstGeom prst="roundRect">
            <a:avLst>
              <a:gd name="adj" fmla="val 3404"/>
            </a:avLst>
          </a:prstGeom>
          <a:solidFill>
            <a:schemeClr val="bg2"/>
          </a:solidFill>
          <a:ln w="12700">
            <a:solidFill>
              <a:schemeClr val="bg2"/>
            </a:solidFill>
            <a:prstDash val="solid"/>
          </a:ln>
        </p:spPr>
      </p:sp>
      <p:sp>
        <p:nvSpPr>
          <p:cNvPr id="4" name="pag-step-1-dot"/>
          <p:cNvSpPr/>
          <p:nvPr/>
        </p:nvSpPr>
        <p:spPr>
          <a:xfrm>
            <a:off x="658368" y="1371600"/>
            <a:ext cx="457200" cy="457200"/>
          </a:xfrm>
          <a:prstGeom prst="ellipse">
            <a:avLst/>
          </a:prstGeom>
          <a:solidFill>
            <a:schemeClr val="accent1"/>
          </a:solidFill>
          <a:ln w="12700">
            <a:solidFill>
              <a:schemeClr val="accent1"/>
            </a:solidFill>
            <a:prstDash val="solid"/>
          </a:ln>
        </p:spPr>
      </p:sp>
      <p:sp>
        <p:nvSpPr>
          <p:cNvPr id="5" name="pag-step-1-num"/>
          <p:cNvSpPr txBox="1"/>
          <p:nvPr/>
        </p:nvSpPr>
        <p:spPr>
          <a:xfrm>
            <a:off x="658368"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pag-step-1-head"/>
          <p:cNvSpPr txBox="1"/>
          <p:nvPr/>
        </p:nvSpPr>
        <p:spPr>
          <a:xfrm>
            <a:off x="658368" y="1965960"/>
            <a:ext cx="2194560" cy="320040"/>
          </a:xfrm>
          <a:prstGeom prst="rect">
            <a:avLst/>
          </a:prstGeom>
          <a:noFill/>
          <a:ln/>
        </p:spPr>
        <p:txBody>
          <a:bodyPr wrap="square" lIns="0" tIns="0" rIns="0" bIns="0" rtlCol="0" anchor="t"/>
          <a:lstStyle/>
          <a:p>
            <a:pPr indent="0" marL="0">
              <a:buNone/>
            </a:pPr>
            <a:r>
              <a:rPr lang="en-US" sz="1600" b="1" dirty="0">
                <a:solidFill>
                  <a:schemeClr val="tx1"/>
                </a:solidFill>
              </a:rPr>
              <a:t>Predict as usual</a:t>
            </a:r>
            <a:endParaRPr lang="en-US" sz="1600" dirty="0"/>
          </a:p>
        </p:txBody>
      </p:sp>
      <p:sp>
        <p:nvSpPr>
          <p:cNvPr id="7" name="pag-step-1-body"/>
          <p:cNvSpPr txBox="1"/>
          <p:nvPr/>
        </p:nvSpPr>
        <p:spPr>
          <a:xfrm>
            <a:off x="658368" y="2331720"/>
            <a:ext cx="2194560" cy="914400"/>
          </a:xfrm>
          <a:prstGeom prst="rect">
            <a:avLst/>
          </a:prstGeom>
          <a:noFill/>
          <a:ln/>
        </p:spPr>
        <p:txBody>
          <a:bodyPr wrap="square" lIns="0" tIns="0" rIns="0" bIns="0" rtlCol="0" anchor="t"/>
          <a:lstStyle/>
          <a:p>
            <a:pPr indent="0" marL="0">
              <a:buNone/>
            </a:pPr>
            <a:r>
              <a:rPr lang="en-US" sz="1300" dirty="0">
                <a:solidFill>
                  <a:schemeClr val="tx2"/>
                </a:solidFill>
              </a:rPr>
              <a:t>The model predicts the noise to remove, guided by the text.</a:t>
            </a:r>
            <a:endParaRPr lang="en-US" sz="1300" dirty="0"/>
          </a:p>
        </p:txBody>
      </p:sp>
      <p:sp>
        <p:nvSpPr>
          <p:cNvPr id="8" name="pag-arrow-0"/>
          <p:cNvSpPr/>
          <p:nvPr/>
        </p:nvSpPr>
        <p:spPr>
          <a:xfrm>
            <a:off x="3044952" y="2258568"/>
            <a:ext cx="219456" cy="0"/>
          </a:xfrm>
          <a:prstGeom prst="line">
            <a:avLst/>
          </a:prstGeom>
          <a:noFill/>
          <a:ln w="19050">
            <a:solidFill>
              <a:schemeClr val="accent1"/>
            </a:solidFill>
            <a:prstDash val="solid"/>
            <a:tailEnd type="triangle"/>
          </a:ln>
        </p:spPr>
      </p:sp>
      <p:sp>
        <p:nvSpPr>
          <p:cNvPr id="9" name="pag-step-2"/>
          <p:cNvSpPr/>
          <p:nvPr/>
        </p:nvSpPr>
        <p:spPr>
          <a:xfrm>
            <a:off x="3291840" y="1188720"/>
            <a:ext cx="2560320" cy="2148840"/>
          </a:xfrm>
          <a:prstGeom prst="roundRect">
            <a:avLst>
              <a:gd name="adj" fmla="val 3404"/>
            </a:avLst>
          </a:prstGeom>
          <a:solidFill>
            <a:schemeClr val="bg2"/>
          </a:solidFill>
          <a:ln w="12700">
            <a:solidFill>
              <a:schemeClr val="bg2"/>
            </a:solidFill>
            <a:prstDash val="solid"/>
          </a:ln>
        </p:spPr>
      </p:sp>
      <p:sp>
        <p:nvSpPr>
          <p:cNvPr id="10" name="pag-step-2-dot"/>
          <p:cNvSpPr/>
          <p:nvPr/>
        </p:nvSpPr>
        <p:spPr>
          <a:xfrm>
            <a:off x="3493008" y="1371600"/>
            <a:ext cx="457200" cy="457200"/>
          </a:xfrm>
          <a:prstGeom prst="ellipse">
            <a:avLst/>
          </a:prstGeom>
          <a:solidFill>
            <a:schemeClr val="accent1"/>
          </a:solidFill>
          <a:ln w="12700">
            <a:solidFill>
              <a:schemeClr val="accent1"/>
            </a:solidFill>
            <a:prstDash val="solid"/>
          </a:ln>
        </p:spPr>
      </p:sp>
      <p:sp>
        <p:nvSpPr>
          <p:cNvPr id="11" name="pag-step-2-num"/>
          <p:cNvSpPr txBox="1"/>
          <p:nvPr/>
        </p:nvSpPr>
        <p:spPr>
          <a:xfrm>
            <a:off x="3493008"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pag-step-2-head"/>
          <p:cNvSpPr txBox="1"/>
          <p:nvPr/>
        </p:nvSpPr>
        <p:spPr>
          <a:xfrm>
            <a:off x="3493008" y="1965960"/>
            <a:ext cx="2194560" cy="320040"/>
          </a:xfrm>
          <a:prstGeom prst="rect">
            <a:avLst/>
          </a:prstGeom>
          <a:noFill/>
          <a:ln/>
        </p:spPr>
        <p:txBody>
          <a:bodyPr wrap="square" lIns="0" tIns="0" rIns="0" bIns="0" rtlCol="0" anchor="t"/>
          <a:lstStyle/>
          <a:p>
            <a:pPr indent="0" marL="0">
              <a:buNone/>
            </a:pPr>
            <a:r>
              <a:rPr lang="en-US" sz="1600" b="1" dirty="0">
                <a:solidFill>
                  <a:schemeClr val="tx1"/>
                </a:solidFill>
              </a:rPr>
              <a:t>Predict again, broken</a:t>
            </a:r>
            <a:endParaRPr lang="en-US" sz="1600" dirty="0"/>
          </a:p>
        </p:txBody>
      </p:sp>
      <p:sp>
        <p:nvSpPr>
          <p:cNvPr id="13" name="pag-step-2-body"/>
          <p:cNvSpPr txBox="1"/>
          <p:nvPr/>
        </p:nvSpPr>
        <p:spPr>
          <a:xfrm>
            <a:off x="3493008" y="2331720"/>
            <a:ext cx="2194560" cy="914400"/>
          </a:xfrm>
          <a:prstGeom prst="rect">
            <a:avLst/>
          </a:prstGeom>
          <a:noFill/>
          <a:ln/>
        </p:spPr>
        <p:txBody>
          <a:bodyPr wrap="square" lIns="0" tIns="0" rIns="0" bIns="0" rtlCol="0" anchor="t"/>
          <a:lstStyle/>
          <a:p>
            <a:pPr indent="0" marL="0">
              <a:buNone/>
            </a:pPr>
            <a:r>
              <a:rPr lang="en-US" sz="1300" dirty="0">
                <a:solidFill>
                  <a:schemeClr val="tx2"/>
                </a:solidFill>
              </a:rPr>
              <a:t>Same step, but self-attention is replaced by the identity: the layout falls apart.</a:t>
            </a:r>
            <a:endParaRPr lang="en-US" sz="1300" dirty="0"/>
          </a:p>
        </p:txBody>
      </p:sp>
      <p:sp>
        <p:nvSpPr>
          <p:cNvPr id="14" name="pag-arrow-1"/>
          <p:cNvSpPr/>
          <p:nvPr/>
        </p:nvSpPr>
        <p:spPr>
          <a:xfrm>
            <a:off x="5879592" y="2258568"/>
            <a:ext cx="219456" cy="0"/>
          </a:xfrm>
          <a:prstGeom prst="line">
            <a:avLst/>
          </a:prstGeom>
          <a:noFill/>
          <a:ln w="19050">
            <a:solidFill>
              <a:schemeClr val="accent1"/>
            </a:solidFill>
            <a:prstDash val="solid"/>
            <a:tailEnd type="triangle"/>
          </a:ln>
        </p:spPr>
      </p:sp>
      <p:sp>
        <p:nvSpPr>
          <p:cNvPr id="15" name="pag-step-3"/>
          <p:cNvSpPr/>
          <p:nvPr/>
        </p:nvSpPr>
        <p:spPr>
          <a:xfrm>
            <a:off x="6126480" y="1188720"/>
            <a:ext cx="2560320" cy="2148840"/>
          </a:xfrm>
          <a:prstGeom prst="roundRect">
            <a:avLst>
              <a:gd name="adj" fmla="val 3404"/>
            </a:avLst>
          </a:prstGeom>
          <a:solidFill>
            <a:schemeClr val="bg2"/>
          </a:solidFill>
          <a:ln w="12700">
            <a:solidFill>
              <a:schemeClr val="bg2"/>
            </a:solidFill>
            <a:prstDash val="solid"/>
          </a:ln>
        </p:spPr>
      </p:sp>
      <p:sp>
        <p:nvSpPr>
          <p:cNvPr id="16" name="pag-step-3-dot"/>
          <p:cNvSpPr/>
          <p:nvPr/>
        </p:nvSpPr>
        <p:spPr>
          <a:xfrm>
            <a:off x="6327648" y="1371600"/>
            <a:ext cx="457200" cy="457200"/>
          </a:xfrm>
          <a:prstGeom prst="ellipse">
            <a:avLst/>
          </a:prstGeom>
          <a:solidFill>
            <a:schemeClr val="accent1"/>
          </a:solidFill>
          <a:ln w="12700">
            <a:solidFill>
              <a:schemeClr val="accent1"/>
            </a:solidFill>
            <a:prstDash val="solid"/>
          </a:ln>
        </p:spPr>
      </p:sp>
      <p:sp>
        <p:nvSpPr>
          <p:cNvPr id="17" name="pag-step-3-num"/>
          <p:cNvSpPr txBox="1"/>
          <p:nvPr/>
        </p:nvSpPr>
        <p:spPr>
          <a:xfrm>
            <a:off x="6327648"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pag-step-3-head"/>
          <p:cNvSpPr txBox="1"/>
          <p:nvPr/>
        </p:nvSpPr>
        <p:spPr>
          <a:xfrm>
            <a:off x="6327648" y="1965960"/>
            <a:ext cx="2194560" cy="320040"/>
          </a:xfrm>
          <a:prstGeom prst="rect">
            <a:avLst/>
          </a:prstGeom>
          <a:noFill/>
          <a:ln/>
        </p:spPr>
        <p:txBody>
          <a:bodyPr wrap="square" lIns="0" tIns="0" rIns="0" bIns="0" rtlCol="0" anchor="t"/>
          <a:lstStyle/>
          <a:p>
            <a:pPr indent="0" marL="0">
              <a:buNone/>
            </a:pPr>
            <a:r>
              <a:rPr lang="en-US" sz="1600" b="1" dirty="0">
                <a:solidFill>
                  <a:schemeClr val="tx1"/>
                </a:solidFill>
              </a:rPr>
              <a:t>Move away from it</a:t>
            </a:r>
            <a:endParaRPr lang="en-US" sz="1600" dirty="0"/>
          </a:p>
        </p:txBody>
      </p:sp>
      <p:sp>
        <p:nvSpPr>
          <p:cNvPr id="19" name="pag-step-3-body"/>
          <p:cNvSpPr txBox="1"/>
          <p:nvPr/>
        </p:nvSpPr>
        <p:spPr>
          <a:xfrm>
            <a:off x="6327648" y="2331720"/>
            <a:ext cx="2194560" cy="914400"/>
          </a:xfrm>
          <a:prstGeom prst="rect">
            <a:avLst/>
          </a:prstGeom>
          <a:noFill/>
          <a:ln/>
        </p:spPr>
        <p:txBody>
          <a:bodyPr wrap="square" lIns="0" tIns="0" rIns="0" bIns="0" rtlCol="0" anchor="t"/>
          <a:lstStyle/>
          <a:p>
            <a:pPr indent="0" marL="0">
              <a:buNone/>
            </a:pPr>
            <a:r>
              <a:rPr lang="en-US" sz="1300" dirty="0">
                <a:solidFill>
                  <a:schemeClr val="tx2"/>
                </a:solidFill>
              </a:rPr>
              <a:t>Push the sample away from the broken prediction (scale 3).</a:t>
            </a:r>
            <a:endParaRPr lang="en-US" sz="1300" dirty="0"/>
          </a:p>
        </p:txBody>
      </p:sp>
      <p:sp>
        <p:nvSpPr>
          <p:cNvPr id="20" name="pag-cost-value"/>
          <p:cNvSpPr txBox="1"/>
          <p:nvPr/>
        </p:nvSpPr>
        <p:spPr>
          <a:xfrm>
            <a:off x="457200" y="3520440"/>
            <a:ext cx="384048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+47%</a:t>
            </a:r>
            <a:endParaRPr lang="en-US" sz="4000" dirty="0"/>
          </a:p>
        </p:txBody>
      </p:sp>
      <p:sp>
        <p:nvSpPr>
          <p:cNvPr id="21" name="pag-cost-label"/>
          <p:cNvSpPr txBox="1"/>
          <p:nvPr/>
        </p:nvSpPr>
        <p:spPr>
          <a:xfrm>
            <a:off x="457200" y="4206240"/>
            <a:ext cx="3840480" cy="548640"/>
          </a:xfrm>
          <a:prstGeom prst="rect">
            <a:avLst/>
          </a:prstGeom>
          <a:noFill/>
          <a:ln/>
        </p:spPr>
        <p:txBody>
          <a:bodyPr wrap="square" lIns="0" tIns="0" rIns="0" bIns="0" rtlCol="0" anchor="t"/>
          <a:lstStyle/>
          <a:p>
            <a:pPr indent="0" marL="0">
              <a:buNone/>
            </a:pPr>
            <a:r>
              <a:rPr lang="en-US" sz="1300" dirty="0">
                <a:solidFill>
                  <a:schemeClr val="tx2"/>
                </a:solidFill>
              </a:rPr>
              <a:t>inference time: one extra U-Net pass per step</a:t>
            </a:r>
            <a:endParaRPr lang="en-US" sz="1300" dirty="0"/>
          </a:p>
        </p:txBody>
      </p:sp>
      <p:sp>
        <p:nvSpPr>
          <p:cNvPr id="22" name="pag-analogy"/>
          <p:cNvSpPr txBox="1"/>
          <p:nvPr/>
        </p:nvSpPr>
        <p:spPr>
          <a:xfrm>
            <a:off x="4572000" y="3657600"/>
            <a:ext cx="4114800" cy="731520"/>
          </a:xfrm>
          <a:prstGeom prst="rect">
            <a:avLst/>
          </a:prstGeom>
          <a:noFill/>
          <a:ln/>
        </p:spPr>
        <p:txBody>
          <a:bodyPr wrap="square" lIns="0" tIns="0" rIns="0" bIns="0" rtlCol="0" anchor="t"/>
          <a:lstStyle/>
          <a:p>
            <a:pPr indent="0" marL="0">
              <a:buNone/>
            </a:pPr>
            <a:r>
              <a:rPr lang="en-US" sz="1500" i="1" dirty="0">
                <a:solidFill>
                  <a:schemeClr val="tx2"/>
                </a:solidFill>
              </a:rPr>
              <a:t>Like showing the model a deliberately bad draft and saying “not like this”.</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Same model, prompts and seeds</a:t>
            </a:r>
            <a:endParaRPr lang="en-US" sz="3000" dirty="0"/>
          </a:p>
        </p:txBody>
      </p:sp>
      <p:sp>
        <p:nvSpPr>
          <p:cNvPr id="3" name="setup-0-value"/>
          <p:cNvSpPr txBox="1"/>
          <p:nvPr/>
        </p:nvSpPr>
        <p:spPr>
          <a:xfrm>
            <a:off x="457200" y="1188720"/>
            <a:ext cx="192024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150</a:t>
            </a:r>
            <a:endParaRPr lang="en-US" sz="4000" dirty="0"/>
          </a:p>
        </p:txBody>
      </p:sp>
      <p:sp>
        <p:nvSpPr>
          <p:cNvPr id="4" name="setup-0-label"/>
          <p:cNvSpPr txBox="1"/>
          <p:nvPr/>
        </p:nvSpPr>
        <p:spPr>
          <a:xfrm>
            <a:off x="457200" y="1874520"/>
            <a:ext cx="1920240" cy="548640"/>
          </a:xfrm>
          <a:prstGeom prst="rect">
            <a:avLst/>
          </a:prstGeom>
          <a:noFill/>
          <a:ln/>
        </p:spPr>
        <p:txBody>
          <a:bodyPr wrap="square" lIns="0" tIns="0" rIns="0" bIns="0" rtlCol="0" anchor="t"/>
          <a:lstStyle/>
          <a:p>
            <a:pPr indent="0" marL="0">
              <a:buNone/>
            </a:pPr>
            <a:r>
              <a:rPr lang="en-US" sz="1300" dirty="0">
                <a:solidFill>
                  <a:schemeClr val="tx2"/>
                </a:solidFill>
              </a:rPr>
              <a:t>COCO captions, 5 categories</a:t>
            </a:r>
            <a:endParaRPr lang="en-US" sz="1300" dirty="0"/>
          </a:p>
        </p:txBody>
      </p:sp>
      <p:sp>
        <p:nvSpPr>
          <p:cNvPr id="5" name="setup-1-value"/>
          <p:cNvSpPr txBox="1"/>
          <p:nvPr/>
        </p:nvSpPr>
        <p:spPr>
          <a:xfrm>
            <a:off x="2560320" y="1188720"/>
            <a:ext cx="192024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5</a:t>
            </a:r>
            <a:endParaRPr lang="en-US" sz="4000" dirty="0"/>
          </a:p>
        </p:txBody>
      </p:sp>
      <p:sp>
        <p:nvSpPr>
          <p:cNvPr id="6" name="setup-1-label"/>
          <p:cNvSpPr txBox="1"/>
          <p:nvPr/>
        </p:nvSpPr>
        <p:spPr>
          <a:xfrm>
            <a:off x="2560320" y="1874520"/>
            <a:ext cx="1920240" cy="548640"/>
          </a:xfrm>
          <a:prstGeom prst="rect">
            <a:avLst/>
          </a:prstGeom>
          <a:noFill/>
          <a:ln/>
        </p:spPr>
        <p:txBody>
          <a:bodyPr wrap="square" lIns="0" tIns="0" rIns="0" bIns="0" rtlCol="0" anchor="t"/>
          <a:lstStyle/>
          <a:p>
            <a:pPr indent="0" marL="0">
              <a:buNone/>
            </a:pPr>
            <a:r>
              <a:rPr lang="en-US" sz="1300" dirty="0">
                <a:solidFill>
                  <a:schemeClr val="tx2"/>
                </a:solidFill>
              </a:rPr>
              <a:t>settings incl. our DUNE reimplementation</a:t>
            </a:r>
            <a:endParaRPr lang="en-US" sz="1300" dirty="0"/>
          </a:p>
        </p:txBody>
      </p:sp>
      <p:sp>
        <p:nvSpPr>
          <p:cNvPr id="7" name="setup-2-value"/>
          <p:cNvSpPr txBox="1"/>
          <p:nvPr/>
        </p:nvSpPr>
        <p:spPr>
          <a:xfrm>
            <a:off x="4663440" y="1188720"/>
            <a:ext cx="192024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1,000</a:t>
            </a:r>
            <a:endParaRPr lang="en-US" sz="4000" dirty="0"/>
          </a:p>
        </p:txBody>
      </p:sp>
      <p:sp>
        <p:nvSpPr>
          <p:cNvPr id="8" name="setup-2-label"/>
          <p:cNvSpPr txBox="1"/>
          <p:nvPr/>
        </p:nvSpPr>
        <p:spPr>
          <a:xfrm>
            <a:off x="4663440" y="1874520"/>
            <a:ext cx="1920240" cy="548640"/>
          </a:xfrm>
          <a:prstGeom prst="rect">
            <a:avLst/>
          </a:prstGeom>
          <a:noFill/>
          <a:ln/>
        </p:spPr>
        <p:txBody>
          <a:bodyPr wrap="square" lIns="0" tIns="0" rIns="0" bIns="0" rtlCol="0" anchor="t"/>
          <a:lstStyle/>
          <a:p>
            <a:pPr indent="0" marL="0">
              <a:buNone/>
            </a:pPr>
            <a:r>
              <a:rPr lang="en-US" sz="1300" dirty="0">
                <a:solidFill>
                  <a:schemeClr val="tx2"/>
                </a:solidFill>
              </a:rPr>
              <a:t>images on one NVIDIA A40</a:t>
            </a:r>
            <a:endParaRPr lang="en-US" sz="1300" dirty="0"/>
          </a:p>
        </p:txBody>
      </p:sp>
      <p:sp>
        <p:nvSpPr>
          <p:cNvPr id="9" name="setup-3-value"/>
          <p:cNvSpPr txBox="1"/>
          <p:nvPr/>
        </p:nvSpPr>
        <p:spPr>
          <a:xfrm>
            <a:off x="6766560" y="1188720"/>
            <a:ext cx="192024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3 × 60</a:t>
            </a:r>
            <a:endParaRPr lang="en-US" sz="4000" dirty="0"/>
          </a:p>
        </p:txBody>
      </p:sp>
      <p:sp>
        <p:nvSpPr>
          <p:cNvPr id="10" name="setup-3-label"/>
          <p:cNvSpPr txBox="1"/>
          <p:nvPr/>
        </p:nvSpPr>
        <p:spPr>
          <a:xfrm>
            <a:off x="6766560" y="1874520"/>
            <a:ext cx="1920240" cy="548640"/>
          </a:xfrm>
          <a:prstGeom prst="rect">
            <a:avLst/>
          </a:prstGeom>
          <a:noFill/>
          <a:ln/>
        </p:spPr>
        <p:txBody>
          <a:bodyPr wrap="square" lIns="0" tIns="0" rIns="0" bIns="0" rtlCol="0" anchor="t"/>
          <a:lstStyle/>
          <a:p>
            <a:pPr indent="0" marL="0">
              <a:buNone/>
            </a:pPr>
            <a:r>
              <a:rPr lang="en-US" sz="1300" dirty="0">
                <a:solidFill>
                  <a:schemeClr val="tx2"/>
                </a:solidFill>
              </a:rPr>
              <a:t>blind four-way human rankings</a:t>
            </a:r>
            <a:endParaRPr lang="en-US" sz="1300" dirty="0"/>
          </a:p>
        </p:txBody>
      </p:sp>
      <p:sp>
        <p:nvSpPr>
          <p:cNvPr id="11" name="setup-metrics"/>
          <p:cNvSpPr/>
          <p:nvPr/>
        </p:nvSpPr>
        <p:spPr>
          <a:xfrm>
            <a:off x="457200" y="2743200"/>
            <a:ext cx="8229600" cy="1691640"/>
          </a:xfrm>
          <a:prstGeom prst="roundRect">
            <a:avLst>
              <a:gd name="adj" fmla="val 4324"/>
            </a:avLst>
          </a:prstGeom>
          <a:solidFill>
            <a:schemeClr val="bg2"/>
          </a:solidFill>
          <a:ln w="12700">
            <a:solidFill>
              <a:schemeClr val="bg2"/>
            </a:solidFill>
            <a:prstDash val="solid"/>
          </a:ln>
        </p:spPr>
      </p:sp>
      <p:sp>
        <p:nvSpPr>
          <p:cNvPr id="12" name="setup-metrics-title"/>
          <p:cNvSpPr txBox="1"/>
          <p:nvPr/>
        </p:nvSpPr>
        <p:spPr>
          <a:xfrm>
            <a:off x="685800" y="2852928"/>
            <a:ext cx="3657600" cy="274320"/>
          </a:xfrm>
          <a:prstGeom prst="rect">
            <a:avLst/>
          </a:prstGeom>
          <a:noFill/>
          <a:ln/>
        </p:spPr>
        <p:txBody>
          <a:bodyPr wrap="square" lIns="0" tIns="0" rIns="0" bIns="0" rtlCol="0" anchor="t"/>
          <a:lstStyle/>
          <a:p>
            <a:pPr indent="0" marL="0">
              <a:buNone/>
            </a:pPr>
            <a:r>
              <a:rPr lang="en-US" sz="1200" b="1" dirty="0">
                <a:solidFill>
                  <a:schemeClr val="tx2"/>
                </a:solidFill>
              </a:rPr>
              <a:t>How we measured</a:t>
            </a:r>
            <a:endParaRPr lang="en-US" sz="1200" dirty="0"/>
          </a:p>
        </p:txBody>
      </p:sp>
      <p:sp>
        <p:nvSpPr>
          <p:cNvPr id="13" name="setup-metrics-list"/>
          <p:cNvSpPr txBox="1"/>
          <p:nvPr/>
        </p:nvSpPr>
        <p:spPr>
          <a:xfrm>
            <a:off x="685800" y="3154680"/>
            <a:ext cx="777240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CLIPScore: does the image match the text?</a:t>
            </a:r>
            <a:endParaRPr lang="en-US" sz="1400" dirty="0"/>
          </a:p>
          <a:p>
            <a:pPr marL="342900" indent="-342900">
              <a:spcAft>
                <a:spcPts val="300"/>
              </a:spcAft>
              <a:buSzPct val="100000"/>
              <a:buChar char="•"/>
            </a:pPr>
            <a:r>
              <a:rPr lang="en-US" sz="1400" dirty="0">
                <a:solidFill>
                  <a:schemeClr val="tx1"/>
                </a:solidFill>
              </a:rPr>
              <a:t>Similarity to the plain SDXL image: how much did the method change it?</a:t>
            </a:r>
            <a:endParaRPr lang="en-US" sz="1400" dirty="0"/>
          </a:p>
          <a:p>
            <a:pPr marL="342900" indent="-342900">
              <a:spcAft>
                <a:spcPts val="300"/>
              </a:spcAft>
              <a:buSzPct val="100000"/>
              <a:buChar char="•"/>
            </a:pPr>
            <a:r>
              <a:rPr lang="en-US" sz="1400" dirty="0">
                <a:solidFill>
                  <a:schemeClr val="tx1"/>
                </a:solidFill>
              </a:rPr>
              <a:t>Time and memory per image</a:t>
            </a:r>
            <a:endParaRPr lang="en-US" sz="1400" dirty="0"/>
          </a:p>
          <a:p>
            <a:pPr marL="342900" indent="-342900">
              <a:spcAft>
                <a:spcPts val="300"/>
              </a:spcAft>
              <a:buSzPct val="100000"/>
              <a:buChar char="•"/>
            </a:pPr>
            <a:r>
              <a:rPr lang="en-US" sz="1400" dirty="0">
                <a:solidFill>
                  <a:schemeClr val="tx1"/>
                </a:solidFill>
              </a:rPr>
              <a:t>Humans: pick best and worst of 4 shuffled images, tag failures</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The metric and the raters disagree</a:t>
            </a:r>
            <a:endParaRPr lang="en-US" sz="3000" dirty="0"/>
          </a:p>
        </p:txBody>
      </p:sp>
      <p:pic>
        <p:nvPicPr>
          <p:cNvPr id="3" name="fig-metric-vs-human" descr="Slope chart: CLIPScore ranks PAG third, human mean rank ranks PAG first">    </p:cNvPr>
          <p:cNvPicPr>
            <a:picLocks noChangeAspect="1"/>
          </p:cNvPicPr>
          <p:nvPr/>
        </p:nvPicPr>
        <p:blipFill>
          <a:blip r:embed="rId1"/>
          <a:stretch>
            <a:fillRect/>
          </a:stretch>
        </p:blipFill>
        <p:spPr>
          <a:xfrm>
            <a:off x="548640" y="1051560"/>
            <a:ext cx="7680960" cy="3264408"/>
          </a:xfrm>
          <a:prstGeom prst="rect">
            <a:avLst/>
          </a:prstGeom>
        </p:spPr>
      </p:pic>
      <p:sp>
        <p:nvSpPr>
          <p:cNvPr id="4" name="metric-takeaway"/>
          <p:cNvSpPr txBox="1"/>
          <p:nvPr/>
        </p:nvSpPr>
        <p:spPr>
          <a:xfrm>
            <a:off x="548640" y="4370832"/>
            <a:ext cx="7680960" cy="320040"/>
          </a:xfrm>
          <a:prstGeom prst="rect">
            <a:avLst/>
          </a:prstGeom>
          <a:noFill/>
          <a:ln/>
        </p:spPr>
        <p:txBody>
          <a:bodyPr wrap="square" lIns="0" tIns="0" rIns="0" bIns="0" rtlCol="0" anchor="t"/>
          <a:lstStyle/>
          <a:p>
            <a:pPr indent="0" marL="0">
              <a:buNone/>
            </a:pPr>
            <a:r>
              <a:rPr lang="en-US" sz="1400" i="1" dirty="0">
                <a:solidFill>
                  <a:schemeClr val="tx2"/>
                </a:solidFill>
              </a:rPr>
              <a:t>CLIPScore only checks whether the named objects are present; it cannot see a fifth leg.</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PAG fixes structure; stacking saturates</a:t>
            </a:r>
            <a:endParaRPr lang="en-US" sz="3000" dirty="0"/>
          </a:p>
        </p:txBody>
      </p:sp>
      <p:pic>
        <p:nvPicPr>
          <p:cNvPr id="3" name="fig-failure-tags" descr="Heatmap of failure tags per setting">    </p:cNvPr>
          <p:cNvPicPr>
            <a:picLocks noChangeAspect="1"/>
          </p:cNvPicPr>
          <p:nvPr/>
        </p:nvPicPr>
        <p:blipFill>
          <a:blip r:embed="rId1"/>
          <a:stretch>
            <a:fillRect/>
          </a:stretch>
        </p:blipFill>
        <p:spPr>
          <a:xfrm>
            <a:off x="457200" y="1143000"/>
            <a:ext cx="5760720" cy="2048256"/>
          </a:xfrm>
          <a:prstGeom prst="rect">
            <a:avLst/>
          </a:prstGeom>
        </p:spPr>
      </p:pic>
      <p:sp>
        <p:nvSpPr>
          <p:cNvPr id="4" name="failure-caption"/>
          <p:cNvSpPr txBox="1"/>
          <p:nvPr/>
        </p:nvSpPr>
        <p:spPr>
          <a:xfrm>
            <a:off x="457200" y="3246120"/>
            <a:ext cx="5760720" cy="274320"/>
          </a:xfrm>
          <a:prstGeom prst="rect">
            <a:avLst/>
          </a:prstGeom>
          <a:noFill/>
          <a:ln/>
        </p:spPr>
        <p:txBody>
          <a:bodyPr wrap="square" lIns="0" tIns="0" rIns="0" bIns="0" rtlCol="0" anchor="t"/>
          <a:lstStyle/>
          <a:p>
            <a:pPr indent="0" marL="0">
              <a:buNone/>
            </a:pPr>
            <a:r>
              <a:rPr lang="en-US" sz="1100" dirty="0">
                <a:solidFill>
                  <a:schemeClr val="tx2"/>
                </a:solidFill>
              </a:rPr>
              <a:t>Share of judgements tagged with each failure</a:t>
            </a:r>
            <a:endParaRPr lang="en-US" sz="1100" dirty="0"/>
          </a:p>
        </p:txBody>
      </p:sp>
      <p:sp>
        <p:nvSpPr>
          <p:cNvPr id="5" name="stat-structure-value"/>
          <p:cNvSpPr txBox="1"/>
          <p:nvPr/>
        </p:nvSpPr>
        <p:spPr>
          <a:xfrm>
            <a:off x="6492240" y="1097280"/>
            <a:ext cx="219456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54→26%</a:t>
            </a:r>
            <a:endParaRPr lang="en-US" sz="4000" dirty="0"/>
          </a:p>
        </p:txBody>
      </p:sp>
      <p:sp>
        <p:nvSpPr>
          <p:cNvPr id="6" name="stat-structure-label"/>
          <p:cNvSpPr txBox="1"/>
          <p:nvPr/>
        </p:nvSpPr>
        <p:spPr>
          <a:xfrm>
            <a:off x="6492240" y="1783080"/>
            <a:ext cx="2194560" cy="548640"/>
          </a:xfrm>
          <a:prstGeom prst="rect">
            <a:avLst/>
          </a:prstGeom>
          <a:noFill/>
          <a:ln/>
        </p:spPr>
        <p:txBody>
          <a:bodyPr wrap="square" lIns="0" tIns="0" rIns="0" bIns="0" rtlCol="0" anchor="t"/>
          <a:lstStyle/>
          <a:p>
            <a:pPr indent="0" marL="0">
              <a:buNone/>
            </a:pPr>
            <a:r>
              <a:rPr lang="en-US" sz="1300" dirty="0">
                <a:solidFill>
                  <a:schemeClr val="tx2"/>
                </a:solidFill>
              </a:rPr>
              <a:t>structure errors, SDXL → PAG</a:t>
            </a:r>
            <a:endParaRPr lang="en-US" sz="1300" dirty="0"/>
          </a:p>
        </p:txBody>
      </p:sp>
      <p:sp>
        <p:nvSpPr>
          <p:cNvPr id="7" name="stat-saturation-value"/>
          <p:cNvSpPr txBox="1"/>
          <p:nvPr/>
        </p:nvSpPr>
        <p:spPr>
          <a:xfrm>
            <a:off x="6492240" y="2423160"/>
            <a:ext cx="219456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7→82%</a:t>
            </a:r>
            <a:endParaRPr lang="en-US" sz="4000" dirty="0"/>
          </a:p>
        </p:txBody>
      </p:sp>
      <p:sp>
        <p:nvSpPr>
          <p:cNvPr id="8" name="stat-saturation-label"/>
          <p:cNvSpPr txBox="1"/>
          <p:nvPr/>
        </p:nvSpPr>
        <p:spPr>
          <a:xfrm>
            <a:off x="6492240" y="3108960"/>
            <a:ext cx="2194560" cy="548640"/>
          </a:xfrm>
          <a:prstGeom prst="rect">
            <a:avLst/>
          </a:prstGeom>
          <a:noFill/>
          <a:ln/>
        </p:spPr>
        <p:txBody>
          <a:bodyPr wrap="square" lIns="0" tIns="0" rIns="0" bIns="0" rtlCol="0" anchor="t"/>
          <a:lstStyle/>
          <a:p>
            <a:pPr indent="0" marL="0">
              <a:buNone/>
            </a:pPr>
            <a:r>
              <a:rPr lang="en-US" sz="1300" dirty="0">
                <a:solidFill>
                  <a:schemeClr val="tx2"/>
                </a:solidFill>
              </a:rPr>
              <a:t>over-saturation, SDXL → FreeU + PAG</a:t>
            </a:r>
            <a:endParaRPr lang="en-US" sz="1300" dirty="0"/>
          </a:p>
        </p:txBody>
      </p:sp>
      <p:sp>
        <p:nvSpPr>
          <p:cNvPr id="9" name="stat-worst-value"/>
          <p:cNvSpPr txBox="1"/>
          <p:nvPr/>
        </p:nvSpPr>
        <p:spPr>
          <a:xfrm>
            <a:off x="457200" y="3611880"/>
            <a:ext cx="32004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5%</a:t>
            </a:r>
            <a:endParaRPr lang="en-US" sz="4000" dirty="0"/>
          </a:p>
        </p:txBody>
      </p:sp>
      <p:sp>
        <p:nvSpPr>
          <p:cNvPr id="10" name="stat-worst-label"/>
          <p:cNvSpPr txBox="1"/>
          <p:nvPr/>
        </p:nvSpPr>
        <p:spPr>
          <a:xfrm>
            <a:off x="457200" y="4297680"/>
            <a:ext cx="3200400" cy="548640"/>
          </a:xfrm>
          <a:prstGeom prst="rect">
            <a:avLst/>
          </a:prstGeom>
          <a:noFill/>
          <a:ln/>
        </p:spPr>
        <p:txBody>
          <a:bodyPr wrap="square" lIns="0" tIns="0" rIns="0" bIns="0" rtlCol="0" anchor="t"/>
          <a:lstStyle/>
          <a:p>
            <a:pPr indent="0" marL="0">
              <a:buNone/>
            </a:pPr>
            <a:r>
              <a:rPr lang="en-US" sz="1300" dirty="0">
                <a:solidFill>
                  <a:schemeClr val="tx2"/>
                </a:solidFill>
              </a:rPr>
              <a:t>of judgements picked PAG as worst (SDXL 22%)</a:t>
            </a:r>
            <a:endParaRPr lang="en-US" sz="1300" dirty="0"/>
          </a:p>
        </p:txBody>
      </p:sp>
      <p:sp>
        <p:nvSpPr>
          <p:cNvPr id="11" name="stat-combo-value"/>
          <p:cNvSpPr txBox="1"/>
          <p:nvPr/>
        </p:nvSpPr>
        <p:spPr>
          <a:xfrm>
            <a:off x="3749040" y="3611880"/>
            <a:ext cx="3200400" cy="685800"/>
          </a:xfrm>
          <a:prstGeom prst="rect">
            <a:avLst/>
          </a:prstGeom>
          <a:noFill/>
          <a:ln/>
        </p:spPr>
        <p:txBody>
          <a:bodyPr wrap="square" lIns="0" tIns="0" rIns="0" bIns="0"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42%</a:t>
            </a:r>
            <a:endParaRPr lang="en-US" sz="4000" dirty="0"/>
          </a:p>
        </p:txBody>
      </p:sp>
      <p:sp>
        <p:nvSpPr>
          <p:cNvPr id="12" name="stat-combo-label"/>
          <p:cNvSpPr txBox="1"/>
          <p:nvPr/>
        </p:nvSpPr>
        <p:spPr>
          <a:xfrm>
            <a:off x="3749040" y="4297680"/>
            <a:ext cx="3200400" cy="548640"/>
          </a:xfrm>
          <a:prstGeom prst="rect">
            <a:avLst/>
          </a:prstGeom>
          <a:noFill/>
          <a:ln/>
        </p:spPr>
        <p:txBody>
          <a:bodyPr wrap="square" lIns="0" tIns="0" rIns="0" bIns="0" rtlCol="0" anchor="t"/>
          <a:lstStyle/>
          <a:p>
            <a:pPr indent="0" marL="0">
              <a:buNone/>
            </a:pPr>
            <a:r>
              <a:rPr lang="en-US" sz="1300" dirty="0">
                <a:solidFill>
                  <a:schemeClr val="tx2"/>
                </a:solidFill>
              </a:rPr>
              <a:t>picked FreeU + PAG as worst</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Two animals: where PAG helps most</a:t>
            </a:r>
            <a:endParaRPr lang="en-US" sz="3000" dirty="0"/>
          </a:p>
        </p:txBody>
      </p:sp>
      <p:pic>
        <p:nvPicPr>
          <p:cNvPr id="3" name="case-pag" descr="Comparison grid of SDXL, FreeU, PAG, FreeU+PAG and DUNE on three animal prompts">    </p:cNvPr>
          <p:cNvPicPr>
            <a:picLocks noChangeAspect="1"/>
          </p:cNvPicPr>
          <p:nvPr/>
        </p:nvPicPr>
        <p:blipFill>
          <a:blip r:embed="rId1"/>
          <a:stretch>
            <a:fillRect/>
          </a:stretch>
        </p:blipFill>
        <p:spPr>
          <a:xfrm>
            <a:off x="457200" y="1051560"/>
            <a:ext cx="5486400" cy="3611880"/>
          </a:xfrm>
          <a:prstGeom prst="rect">
            <a:avLst/>
          </a:prstGeom>
        </p:spPr>
      </p:pic>
      <p:sp>
        <p:nvSpPr>
          <p:cNvPr id="4" name="case-notes"/>
          <p:cNvSpPr txBox="1"/>
          <p:nvPr/>
        </p:nvSpPr>
        <p:spPr>
          <a:xfrm>
            <a:off x="6217920" y="1188720"/>
            <a:ext cx="2468880" cy="329184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Columns: SDXL, + FreeU, + PAG, + FreeU + PAG, + DUNE</a:t>
            </a:r>
            <a:endParaRPr lang="en-US" sz="1400" dirty="0"/>
          </a:p>
          <a:p>
            <a:pPr indent="0" marL="0">
              <a:spcAft>
                <a:spcPts val="600"/>
              </a:spcAft>
              <a:buNone/>
            </a:pPr>
            <a:r>
              <a:rPr lang="en-US" sz="600" dirty="0">
                <a:solidFill>
                  <a:schemeClr val="tx1"/>
                </a:solidFill>
              </a:rPr>
              <a:t> </a:t>
            </a:r>
            <a:endParaRPr lang="en-US" sz="1400" dirty="0"/>
          </a:p>
          <a:p>
            <a:pPr marL="342900" indent="-342900">
              <a:spcAft>
                <a:spcPts val="600"/>
              </a:spcAft>
              <a:buSzPct val="100000"/>
              <a:buChar char="•"/>
            </a:pPr>
            <a:r>
              <a:rPr lang="en-US" sz="1400" dirty="0">
                <a:solidFill>
                  <a:schemeClr val="tx1"/>
                </a:solidFill>
              </a:rPr>
              <a:t>SDXL and FreeU fuse the two giraffes and add legs</a:t>
            </a:r>
            <a:endParaRPr lang="en-US" sz="1400" dirty="0"/>
          </a:p>
          <a:p>
            <a:pPr marL="342900" indent="-342900">
              <a:spcAft>
                <a:spcPts val="600"/>
              </a:spcAft>
              <a:buSzPct val="100000"/>
              <a:buChar char="•"/>
            </a:pPr>
            <a:r>
              <a:rPr lang="en-US" sz="1400" dirty="0">
                <a:solidFill>
                  <a:schemeClr val="tx1"/>
                </a:solidFill>
              </a:rPr>
              <a:t>PAG separates them cleanly with natural colour</a:t>
            </a:r>
            <a:endParaRPr lang="en-US" sz="1400" dirty="0"/>
          </a:p>
          <a:p>
            <a:pPr marL="342900" indent="-342900">
              <a:spcAft>
                <a:spcPts val="600"/>
              </a:spcAft>
              <a:buSzPct val="100000"/>
              <a:buChar char="•"/>
            </a:pPr>
            <a:r>
              <a:rPr lang="en-US" sz="1400" dirty="0">
                <a:solidFill>
                  <a:schemeClr val="tx1"/>
                </a:solidFill>
              </a:rPr>
              <a:t>FreeU + PAG: right shapes, poster-like colour</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DUNE (2026): the most conservative fix</a:t>
            </a:r>
            <a:endParaRPr lang="en-US" sz="3000" dirty="0"/>
          </a:p>
        </p:txBody>
      </p:sp>
      <p:pic>
        <p:nvPicPr>
          <p:cNvPr id="3" name="fig-similarity" descr="CLIP image similarity to SDXL for each setting and for increasing PAG and FreeU strength">    </p:cNvPr>
          <p:cNvPicPr>
            <a:picLocks noChangeAspect="1"/>
          </p:cNvPicPr>
          <p:nvPr/>
        </p:nvPicPr>
        <p:blipFill>
          <a:blip r:embed="rId1"/>
          <a:stretch>
            <a:fillRect/>
          </a:stretch>
        </p:blipFill>
        <p:spPr>
          <a:xfrm>
            <a:off x="457200" y="1097280"/>
            <a:ext cx="5486400" cy="2011680"/>
          </a:xfrm>
          <a:prstGeom prst="rect">
            <a:avLst/>
          </a:prstGeom>
        </p:spPr>
      </p:pic>
      <p:sp>
        <p:nvSpPr>
          <p:cNvPr id="4" name="dune-sim-value"/>
          <p:cNvSpPr txBox="1"/>
          <p:nvPr/>
        </p:nvSpPr>
        <p:spPr>
          <a:xfrm>
            <a:off x="457200" y="3291840"/>
            <a:ext cx="182880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0.983</a:t>
            </a:r>
            <a:endParaRPr lang="en-US" sz="4000" dirty="0"/>
          </a:p>
        </p:txBody>
      </p:sp>
      <p:sp>
        <p:nvSpPr>
          <p:cNvPr id="5" name="dune-sim-label"/>
          <p:cNvSpPr txBox="1"/>
          <p:nvPr/>
        </p:nvSpPr>
        <p:spPr>
          <a:xfrm>
            <a:off x="457200" y="3977640"/>
            <a:ext cx="1828800" cy="548640"/>
          </a:xfrm>
          <a:prstGeom prst="rect">
            <a:avLst/>
          </a:prstGeom>
          <a:noFill/>
          <a:ln/>
        </p:spPr>
        <p:txBody>
          <a:bodyPr wrap="square" lIns="0" tIns="0" rIns="0" bIns="0" rtlCol="0" anchor="t"/>
          <a:lstStyle/>
          <a:p>
            <a:pPr indent="0" marL="0">
              <a:buNone/>
            </a:pPr>
            <a:r>
              <a:rPr lang="en-US" sz="1300" dirty="0">
                <a:solidFill>
                  <a:schemeClr val="tx2"/>
                </a:solidFill>
              </a:rPr>
              <a:t>similarity to SDXL</a:t>
            </a:r>
            <a:endParaRPr lang="en-US" sz="1300" dirty="0"/>
          </a:p>
        </p:txBody>
      </p:sp>
      <p:sp>
        <p:nvSpPr>
          <p:cNvPr id="6" name="dune-time-value"/>
          <p:cNvSpPr txBox="1"/>
          <p:nvPr/>
        </p:nvSpPr>
        <p:spPr>
          <a:xfrm>
            <a:off x="2286000" y="3291840"/>
            <a:ext cx="182880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×1.00</a:t>
            </a:r>
            <a:endParaRPr lang="en-US" sz="4000" dirty="0"/>
          </a:p>
        </p:txBody>
      </p:sp>
      <p:sp>
        <p:nvSpPr>
          <p:cNvPr id="7" name="dune-time-label"/>
          <p:cNvSpPr txBox="1"/>
          <p:nvPr/>
        </p:nvSpPr>
        <p:spPr>
          <a:xfrm>
            <a:off x="2286000" y="3977640"/>
            <a:ext cx="1828800" cy="548640"/>
          </a:xfrm>
          <a:prstGeom prst="rect">
            <a:avLst/>
          </a:prstGeom>
          <a:noFill/>
          <a:ln/>
        </p:spPr>
        <p:txBody>
          <a:bodyPr wrap="square" lIns="0" tIns="0" rIns="0" bIns="0" rtlCol="0" anchor="t"/>
          <a:lstStyle/>
          <a:p>
            <a:pPr indent="0" marL="0">
              <a:buNone/>
            </a:pPr>
            <a:r>
              <a:rPr lang="en-US" sz="1300" dirty="0">
                <a:solidFill>
                  <a:schemeClr val="tx2"/>
                </a:solidFill>
              </a:rPr>
              <a:t>inference time</a:t>
            </a:r>
            <a:endParaRPr lang="en-US" sz="1300" dirty="0"/>
          </a:p>
        </p:txBody>
      </p:sp>
      <p:sp>
        <p:nvSpPr>
          <p:cNvPr id="8" name="dune-clip-value"/>
          <p:cNvSpPr txBox="1"/>
          <p:nvPr/>
        </p:nvSpPr>
        <p:spPr>
          <a:xfrm>
            <a:off x="4114800" y="3291840"/>
            <a:ext cx="182880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−0.04</a:t>
            </a:r>
            <a:endParaRPr lang="en-US" sz="4000" dirty="0"/>
          </a:p>
        </p:txBody>
      </p:sp>
      <p:sp>
        <p:nvSpPr>
          <p:cNvPr id="9" name="dune-clip-label"/>
          <p:cNvSpPr txBox="1"/>
          <p:nvPr/>
        </p:nvSpPr>
        <p:spPr>
          <a:xfrm>
            <a:off x="4114800" y="3977640"/>
            <a:ext cx="1828800" cy="548640"/>
          </a:xfrm>
          <a:prstGeom prst="rect">
            <a:avLst/>
          </a:prstGeom>
          <a:noFill/>
          <a:ln/>
        </p:spPr>
        <p:txBody>
          <a:bodyPr wrap="square" lIns="0" tIns="0" rIns="0" bIns="0" rtlCol="0" anchor="t"/>
          <a:lstStyle/>
          <a:p>
            <a:pPr indent="0" marL="0">
              <a:buNone/>
            </a:pPr>
            <a:r>
              <a:rPr lang="en-US" sz="1300" dirty="0">
                <a:solidFill>
                  <a:schemeClr val="tx2"/>
                </a:solidFill>
              </a:rPr>
              <a:t>CLIPScore, not significant</a:t>
            </a:r>
            <a:endParaRPr lang="en-US" sz="1300" dirty="0"/>
          </a:p>
        </p:txBody>
      </p:sp>
      <p:pic>
        <p:nvPicPr>
          <p:cNvPr id="10" name="case-dune" descr="Prompts where DUNE changes the image most">    </p:cNvPr>
          <p:cNvPicPr>
            <a:picLocks noChangeAspect="1"/>
          </p:cNvPicPr>
          <p:nvPr/>
        </p:nvPicPr>
        <p:blipFill>
          <a:blip r:embed="rId2"/>
          <a:stretch>
            <a:fillRect/>
          </a:stretch>
        </p:blipFill>
        <p:spPr>
          <a:xfrm>
            <a:off x="6263640" y="1051560"/>
            <a:ext cx="2423160" cy="3511296"/>
          </a:xfrm>
          <a:prstGeom prst="rect">
            <a:avLst/>
          </a:prstGeom>
        </p:spPr>
      </p:pic>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What limits our conclusions</a:t>
            </a:r>
            <a:endParaRPr lang="en-US" sz="3000" dirty="0"/>
          </a:p>
        </p:txBody>
      </p:sp>
      <p:sp>
        <p:nvSpPr>
          <p:cNvPr id="3" name="limit-0"/>
          <p:cNvSpPr/>
          <p:nvPr/>
        </p:nvSpPr>
        <p:spPr>
          <a:xfrm>
            <a:off x="457200" y="1143000"/>
            <a:ext cx="4023360" cy="1508760"/>
          </a:xfrm>
          <a:prstGeom prst="roundRect">
            <a:avLst>
              <a:gd name="adj" fmla="val 4848"/>
            </a:avLst>
          </a:prstGeom>
          <a:solidFill>
            <a:schemeClr val="bg2"/>
          </a:solidFill>
          <a:ln w="12700">
            <a:solidFill>
              <a:schemeClr val="bg2"/>
            </a:solidFill>
            <a:prstDash val="solid"/>
          </a:ln>
        </p:spPr>
      </p:sp>
      <p:sp>
        <p:nvSpPr>
          <p:cNvPr id="4" name="limit-0-head"/>
          <p:cNvSpPr txBox="1"/>
          <p:nvPr/>
        </p:nvSpPr>
        <p:spPr>
          <a:xfrm>
            <a:off x="685800" y="1325880"/>
            <a:ext cx="3566160" cy="320040"/>
          </a:xfrm>
          <a:prstGeom prst="rect">
            <a:avLst/>
          </a:prstGeom>
          <a:noFill/>
          <a:ln/>
        </p:spPr>
        <p:txBody>
          <a:bodyPr wrap="square" lIns="0" tIns="0" rIns="0" bIns="0" rtlCol="0" anchor="t"/>
          <a:lstStyle/>
          <a:p>
            <a:pPr indent="0" marL="0">
              <a:buNone/>
            </a:pPr>
            <a:r>
              <a:rPr lang="en-US" sz="1600" b="1" dirty="0">
                <a:solidFill>
                  <a:schemeClr val="tx1"/>
                </a:solidFill>
              </a:rPr>
              <a:t>Few raters</a:t>
            </a:r>
            <a:endParaRPr lang="en-US" sz="1600" dirty="0"/>
          </a:p>
        </p:txBody>
      </p:sp>
      <p:sp>
        <p:nvSpPr>
          <p:cNvPr id="5" name="limit-0-body"/>
          <p:cNvSpPr txBox="1"/>
          <p:nvPr/>
        </p:nvSpPr>
        <p:spPr>
          <a:xfrm>
            <a:off x="685800" y="1691640"/>
            <a:ext cx="3566160" cy="868680"/>
          </a:xfrm>
          <a:prstGeom prst="rect">
            <a:avLst/>
          </a:prstGeom>
          <a:noFill/>
          <a:ln/>
        </p:spPr>
        <p:txBody>
          <a:bodyPr wrap="square" lIns="0" tIns="0" rIns="0" bIns="0" rtlCol="0" anchor="t"/>
          <a:lstStyle/>
          <a:p>
            <a:pPr indent="0" marL="0">
              <a:buNone/>
            </a:pPr>
            <a:r>
              <a:rPr lang="en-US" sz="1300" dirty="0">
                <a:solidFill>
                  <a:schemeClr val="tx2"/>
                </a:solidFill>
              </a:rPr>
              <a:t>Three raters, all authors, with low agreement (Fleiss' κ = 0.105). One preferred plain SDXL, another PAG.</a:t>
            </a:r>
            <a:endParaRPr lang="en-US" sz="1300" dirty="0"/>
          </a:p>
        </p:txBody>
      </p:sp>
      <p:sp>
        <p:nvSpPr>
          <p:cNvPr id="6" name="limit-1"/>
          <p:cNvSpPr/>
          <p:nvPr/>
        </p:nvSpPr>
        <p:spPr>
          <a:xfrm>
            <a:off x="4663440" y="1143000"/>
            <a:ext cx="4023360" cy="1508760"/>
          </a:xfrm>
          <a:prstGeom prst="roundRect">
            <a:avLst>
              <a:gd name="adj" fmla="val 4848"/>
            </a:avLst>
          </a:prstGeom>
          <a:solidFill>
            <a:schemeClr val="bg2"/>
          </a:solidFill>
          <a:ln w="12700">
            <a:solidFill>
              <a:schemeClr val="bg2"/>
            </a:solidFill>
            <a:prstDash val="solid"/>
          </a:ln>
        </p:spPr>
      </p:sp>
      <p:sp>
        <p:nvSpPr>
          <p:cNvPr id="7" name="limit-1-head"/>
          <p:cNvSpPr txBox="1"/>
          <p:nvPr/>
        </p:nvSpPr>
        <p:spPr>
          <a:xfrm>
            <a:off x="4892040" y="1325880"/>
            <a:ext cx="3566160" cy="320040"/>
          </a:xfrm>
          <a:prstGeom prst="rect">
            <a:avLst/>
          </a:prstGeom>
          <a:noFill/>
          <a:ln/>
        </p:spPr>
        <p:txBody>
          <a:bodyPr wrap="square" lIns="0" tIns="0" rIns="0" bIns="0" rtlCol="0" anchor="t"/>
          <a:lstStyle/>
          <a:p>
            <a:pPr indent="0" marL="0">
              <a:buNone/>
            </a:pPr>
            <a:r>
              <a:rPr lang="en-US" sz="1600" b="1" dirty="0">
                <a:solidFill>
                  <a:schemeClr val="tx1"/>
                </a:solidFill>
              </a:rPr>
              <a:t>Metric blind spot</a:t>
            </a:r>
            <a:endParaRPr lang="en-US" sz="1600" dirty="0"/>
          </a:p>
        </p:txBody>
      </p:sp>
      <p:sp>
        <p:nvSpPr>
          <p:cNvPr id="8" name="limit-1-body"/>
          <p:cNvSpPr txBox="1"/>
          <p:nvPr/>
        </p:nvSpPr>
        <p:spPr>
          <a:xfrm>
            <a:off x="4892040" y="1691640"/>
            <a:ext cx="3566160" cy="868680"/>
          </a:xfrm>
          <a:prstGeom prst="rect">
            <a:avLst/>
          </a:prstGeom>
          <a:noFill/>
          <a:ln/>
        </p:spPr>
        <p:txBody>
          <a:bodyPr wrap="square" lIns="0" tIns="0" rIns="0" bIns="0" rtlCol="0" anchor="t"/>
          <a:lstStyle/>
          <a:p>
            <a:pPr indent="0" marL="0">
              <a:buNone/>
            </a:pPr>
            <a:r>
              <a:rPr lang="en-US" sz="1300" dirty="0">
                <a:solidFill>
                  <a:schemeClr val="tx2"/>
                </a:solidFill>
              </a:rPr>
              <a:t>CLIPScore misses structure, so the automatic results understate PAG.</a:t>
            </a:r>
            <a:endParaRPr lang="en-US" sz="1300" dirty="0"/>
          </a:p>
        </p:txBody>
      </p:sp>
      <p:sp>
        <p:nvSpPr>
          <p:cNvPr id="9" name="limit-2"/>
          <p:cNvSpPr/>
          <p:nvPr/>
        </p:nvSpPr>
        <p:spPr>
          <a:xfrm>
            <a:off x="457200" y="2834640"/>
            <a:ext cx="4023360" cy="1508760"/>
          </a:xfrm>
          <a:prstGeom prst="roundRect">
            <a:avLst>
              <a:gd name="adj" fmla="val 4848"/>
            </a:avLst>
          </a:prstGeom>
          <a:solidFill>
            <a:schemeClr val="bg2"/>
          </a:solidFill>
          <a:ln w="12700">
            <a:solidFill>
              <a:schemeClr val="bg2"/>
            </a:solidFill>
            <a:prstDash val="solid"/>
          </a:ln>
        </p:spPr>
      </p:sp>
      <p:sp>
        <p:nvSpPr>
          <p:cNvPr id="10" name="limit-2-head"/>
          <p:cNvSpPr txBox="1"/>
          <p:nvPr/>
        </p:nvSpPr>
        <p:spPr>
          <a:xfrm>
            <a:off x="685800" y="3017520"/>
            <a:ext cx="3566160" cy="320040"/>
          </a:xfrm>
          <a:prstGeom prst="rect">
            <a:avLst/>
          </a:prstGeom>
          <a:noFill/>
          <a:ln/>
        </p:spPr>
        <p:txBody>
          <a:bodyPr wrap="square" lIns="0" tIns="0" rIns="0" bIns="0" rtlCol="0" anchor="t"/>
          <a:lstStyle/>
          <a:p>
            <a:pPr indent="0" marL="0">
              <a:buNone/>
            </a:pPr>
            <a:r>
              <a:rPr lang="en-US" sz="1600" b="1" dirty="0">
                <a:solidFill>
                  <a:schemeClr val="tx1"/>
                </a:solidFill>
              </a:rPr>
              <a:t>Narrow scope</a:t>
            </a:r>
            <a:endParaRPr lang="en-US" sz="1600" dirty="0"/>
          </a:p>
        </p:txBody>
      </p:sp>
      <p:sp>
        <p:nvSpPr>
          <p:cNvPr id="11" name="limit-2-body"/>
          <p:cNvSpPr txBox="1"/>
          <p:nvPr/>
        </p:nvSpPr>
        <p:spPr>
          <a:xfrm>
            <a:off x="685800" y="3383280"/>
            <a:ext cx="3566160" cy="868680"/>
          </a:xfrm>
          <a:prstGeom prst="rect">
            <a:avLst/>
          </a:prstGeom>
          <a:noFill/>
          <a:ln/>
        </p:spPr>
        <p:txBody>
          <a:bodyPr wrap="square" lIns="0" tIns="0" rIns="0" bIns="0" rtlCol="0" anchor="t"/>
          <a:lstStyle/>
          <a:p>
            <a:pPr indent="0" marL="0">
              <a:buNone/>
            </a:pPr>
            <a:r>
              <a:rPr lang="en-US" sz="1300" dirty="0">
                <a:solidFill>
                  <a:schemeClr val="tx2"/>
                </a:solidFill>
              </a:rPr>
              <a:t>150 short COCO captions, one sampler, 30 steps, CFG 5.</a:t>
            </a:r>
            <a:endParaRPr lang="en-US" sz="1300" dirty="0"/>
          </a:p>
        </p:txBody>
      </p:sp>
      <p:sp>
        <p:nvSpPr>
          <p:cNvPr id="12" name="limit-3"/>
          <p:cNvSpPr/>
          <p:nvPr/>
        </p:nvSpPr>
        <p:spPr>
          <a:xfrm>
            <a:off x="4663440" y="2834640"/>
            <a:ext cx="4023360" cy="1508760"/>
          </a:xfrm>
          <a:prstGeom prst="roundRect">
            <a:avLst>
              <a:gd name="adj" fmla="val 4848"/>
            </a:avLst>
          </a:prstGeom>
          <a:solidFill>
            <a:schemeClr val="bg2"/>
          </a:solidFill>
          <a:ln w="12700">
            <a:solidFill>
              <a:schemeClr val="bg2"/>
            </a:solidFill>
            <a:prstDash val="solid"/>
          </a:ln>
        </p:spPr>
      </p:sp>
      <p:sp>
        <p:nvSpPr>
          <p:cNvPr id="13" name="limit-3-head"/>
          <p:cNvSpPr txBox="1"/>
          <p:nvPr/>
        </p:nvSpPr>
        <p:spPr>
          <a:xfrm>
            <a:off x="4892040" y="3017520"/>
            <a:ext cx="3566160" cy="320040"/>
          </a:xfrm>
          <a:prstGeom prst="rect">
            <a:avLst/>
          </a:prstGeom>
          <a:noFill/>
          <a:ln/>
        </p:spPr>
        <p:txBody>
          <a:bodyPr wrap="square" lIns="0" tIns="0" rIns="0" bIns="0" rtlCol="0" anchor="t"/>
          <a:lstStyle/>
          <a:p>
            <a:pPr indent="0" marL="0">
              <a:buNone/>
            </a:pPr>
            <a:r>
              <a:rPr lang="en-US" sz="1600" b="1" dirty="0">
                <a:solidFill>
                  <a:schemeClr val="tx1"/>
                </a:solidFill>
              </a:rPr>
              <a:t>DUNE</a:t>
            </a:r>
            <a:endParaRPr lang="en-US" sz="1600" dirty="0"/>
          </a:p>
        </p:txBody>
      </p:sp>
      <p:sp>
        <p:nvSpPr>
          <p:cNvPr id="14" name="limit-3-body"/>
          <p:cNvSpPr txBox="1"/>
          <p:nvPr/>
        </p:nvSpPr>
        <p:spPr>
          <a:xfrm>
            <a:off x="4892040" y="3383280"/>
            <a:ext cx="3566160" cy="868680"/>
          </a:xfrm>
          <a:prstGeom prst="rect">
            <a:avLst/>
          </a:prstGeom>
          <a:noFill/>
          <a:ln/>
        </p:spPr>
        <p:txBody>
          <a:bodyPr wrap="square" lIns="0" tIns="0" rIns="0" bIns="0" rtlCol="0" anchor="t"/>
          <a:lstStyle/>
          <a:p>
            <a:pPr indent="0" marL="0">
              <a:buNone/>
            </a:pPr>
            <a:r>
              <a:rPr lang="en-US" sz="1300" dirty="0">
                <a:solidFill>
                  <a:schemeClr val="tx2"/>
                </a:solidFill>
              </a:rPr>
              <a:t>Our own reimplementation of an unreviewed preprint, rated by metrics only.</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120640" cy="1463040"/>
          </a:xfrm>
          <a:prstGeom prst="rect">
            <a:avLst/>
          </a:prstGeom>
          <a:noFill/>
          <a:ln/>
        </p:spPr>
        <p:txBody>
          <a:bodyPr wrap="square" lIns="0" tIns="0" rIns="0" bIns="0" rtlCol="0" anchor="b"/>
          <a:lstStyle/>
          <a:p>
            <a:pPr algn="l" indent="0" marL="0">
              <a:buNone/>
            </a:pPr>
            <a:r>
              <a:rPr lang="en-US" sz="3800" b="1" dirty="0">
                <a:solidFill>
                  <a:schemeClr val="bg1"/>
                </a:solidFill>
              </a:rPr>
              <a:t>Takeaways</a:t>
            </a:r>
            <a:endParaRPr lang="en-US" sz="3800" dirty="0"/>
          </a:p>
        </p:txBody>
      </p:sp>
      <p:sp>
        <p:nvSpPr>
          <p:cNvPr id="3" name="Text 0"/>
          <p:cNvSpPr/>
          <p:nvPr>
            <p:ph idx="101" type="body" hasCustomPrompt="1"/>
          </p:nvPr>
        </p:nvSpPr>
        <p:spPr>
          <a:xfrm>
            <a:off x="548640" y="2788920"/>
            <a:ext cx="5120640" cy="128016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bg2"/>
                </a:solidFill>
              </a:rPr>
              <a:t>Use PAG when structure matters (≈1.5× time)</a:t>
            </a:r>
            <a:endParaRPr lang="en-US" sz="1600" dirty="0"/>
          </a:p>
          <a:p>
            <a:pPr marL="342900" indent="-342900">
              <a:spcAft>
                <a:spcPts val="800"/>
              </a:spcAft>
              <a:buSzPct val="100000"/>
              <a:buFont typeface="+mj-lt"/>
              <a:buAutoNum type="arabicPeriod" startAt="1"/>
            </a:pPr>
            <a:r>
              <a:rPr lang="en-US" sz="1600" dirty="0">
                <a:solidFill>
                  <a:schemeClr val="bg2"/>
                </a:solidFill>
              </a:rPr>
              <a:t>Do not stack FreeU and PAG at default strengths</a:t>
            </a:r>
            <a:endParaRPr lang="en-US" sz="1600" dirty="0"/>
          </a:p>
          <a:p>
            <a:pPr marL="342900" indent="-342900">
              <a:spcAft>
                <a:spcPts val="800"/>
              </a:spcAft>
              <a:buSzPct val="100000"/>
              <a:buFont typeface="+mj-lt"/>
              <a:buAutoNum type="arabicPeriod" startAt="1"/>
            </a:pPr>
            <a:r>
              <a:rPr lang="en-US" sz="1600" dirty="0">
                <a:solidFill>
                  <a:schemeClr val="bg2"/>
                </a:solidFill>
              </a:rPr>
              <a:t>Do not judge these methods by CLIPScore alone</a:t>
            </a:r>
            <a:endParaRPr lang="en-US" sz="1600" dirty="0"/>
          </a:p>
        </p:txBody>
      </p:sp>
      <p:sp>
        <p:nvSpPr>
          <p:cNvPr id="4" name="repo-link"/>
          <p:cNvSpPr txBox="1"/>
          <p:nvPr/>
        </p:nvSpPr>
        <p:spPr>
          <a:xfrm>
            <a:off x="548640" y="4297680"/>
            <a:ext cx="5029200" cy="274320"/>
          </a:xfrm>
          <a:prstGeom prst="rect">
            <a:avLst/>
          </a:prstGeom>
          <a:noFill/>
          <a:ln/>
        </p:spPr>
        <p:txBody>
          <a:bodyPr wrap="square" lIns="0" tIns="0" rIns="0" bIns="0" rtlCol="0" anchor="t"/>
          <a:lstStyle/>
          <a:p>
            <a:pPr indent="0" marL="0">
              <a:buNone/>
            </a:pPr>
            <a:r>
              <a:rPr lang="en-US" sz="1200" dirty="0">
                <a:solidFill>
                  <a:schemeClr val="bg2"/>
                </a:solidFill>
              </a:rPr>
              <a:t>Code, prompts, ratings: github.com/AlMuM/sdxl-freeu-pag</a:t>
            </a:r>
            <a:endParaRPr lang="en-US" sz="1200" dirty="0"/>
          </a:p>
        </p:txBody>
      </p:sp>
      <p:pic>
        <p:nvPicPr>
          <p:cNvPr id="5" name="closing-image" descr="Two giraffes generated by SDXL with PAG">    </p:cNvPr>
          <p:cNvPicPr>
            <a:picLocks noChangeAspect="1"/>
          </p:cNvPicPr>
          <p:nvPr/>
        </p:nvPicPr>
        <p:blipFill>
          <a:blip r:embed="rId1"/>
          <a:stretch>
            <a:fillRect/>
          </a:stretch>
        </p:blipFill>
        <p:spPr>
          <a:xfrm>
            <a:off x="5806440" y="822960"/>
            <a:ext cx="2926080" cy="2926080"/>
          </a:xfrm>
          <a:prstGeom prst="rect">
            <a:avLst/>
          </a:prstGeom>
        </p:spPr>
      </p:pic>
    </p:spTree>
  </p:cSld>
  <p:clrMapOvr>
    <a:masterClrMapping/>
  </p:clrMapOvr>
</p:sld>
</file>

<file path=ppt/theme/theme1.xml><?xml version="1.0" encoding="utf-8"?>
<a:theme xmlns:a="http://schemas.openxmlformats.org/drawingml/2006/main" name="SDXL Training-free">
  <a:themeElements>
    <a:clrScheme name="SDXL Training-free">
      <a:dk1>
        <a:srgbClr val="1F2233"/>
      </a:dk1>
      <a:lt1>
        <a:srgbClr val="FFFFFF"/>
      </a:lt1>
      <a:dk2>
        <a:srgbClr val="4A4F66"/>
      </a:dk2>
      <a:lt2>
        <a:srgbClr val="F2F3F7"/>
      </a:lt2>
      <a:accent1>
        <a:srgbClr val="2F6FDE"/>
      </a:accent1>
      <a:accent2>
        <a:srgbClr val="E2662C"/>
      </a:accent2>
      <a:accent3>
        <a:srgbClr val="7A5AA6"/>
      </a:accent3>
      <a:accent4>
        <a:srgbClr val="3E8E5E"/>
      </a:accent4>
      <a:accent5>
        <a:srgbClr val="C9473F"/>
      </a:accent5>
      <a:accent6>
        <a:srgbClr val="8A8D99"/>
      </a:accent6>
      <a:hlink>
        <a:srgbClr val="2F6FDE"/>
      </a:hlink>
      <a:folHlink>
        <a:srgbClr val="7A5AA6"/>
      </a:folHlink>
    </a:clrScheme>
    <a:fontScheme name="SDXL Training-fr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Training-free Enhancement of SDXL</dc:title>
  <dc:subject>PptxGenJS Presentation</dc:subject>
  <dc:creator>PptxGenJS</dc:creator>
  <cp:lastModifiedBy>PptxGenJS</cp:lastModifiedBy>
  <cp:revision>1</cp:revision>
  <dcterms:created xsi:type="dcterms:W3CDTF">2026-10-25T23:53:48Z</dcterms:created>
  <dcterms:modified xsi:type="dcterms:W3CDTF">2026-10-25T23:53:48Z</dcterms:modified>
</cp:coreProperties>
</file>